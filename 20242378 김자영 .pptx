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7" r:id="rId3"/>
    <p:sldId id="268" r:id="rId4"/>
    <p:sldId id="270" r:id="rId5"/>
    <p:sldId id="269" r:id="rId6"/>
    <p:sldId id="271" r:id="rId7"/>
    <p:sldId id="257" r:id="rId8"/>
    <p:sldId id="272" r:id="rId9"/>
    <p:sldId id="273" r:id="rId10"/>
    <p:sldId id="274" r:id="rId11"/>
    <p:sldId id="275" r:id="rId12"/>
    <p:sldId id="276" r:id="rId13"/>
    <p:sldId id="277" r:id="rId14"/>
    <p:sldId id="266" r:id="rId15"/>
  </p:sldIdLst>
  <p:sldSz cx="18288000" cy="10287000"/>
  <p:notesSz cx="6858000" cy="9144000"/>
  <p:embeddedFontLst>
    <p:embeddedFont>
      <p:font typeface="Nanum Square" panose="020B0600000101010101" charset="-127"/>
      <p:regular r:id="rId16"/>
    </p:embeddedFont>
    <p:embeddedFont>
      <p:font typeface="Nanum Square Light" panose="020B0600000101010101" charset="-127"/>
      <p:regular r:id="rId17"/>
    </p:embeddedFont>
    <p:embeddedFont>
      <p:font typeface="Heebo" pitchFamily="2" charset="-79"/>
      <p:regular r:id="rId18"/>
      <p:bold r:id="rId19"/>
    </p:embeddedFont>
    <p:embeddedFont>
      <p:font typeface="Heebo Bold" charset="-79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10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4622" autoAdjust="0"/>
  </p:normalViewPr>
  <p:slideViewPr>
    <p:cSldViewPr>
      <p:cViewPr varScale="1">
        <p:scale>
          <a:sx n="38" d="100"/>
          <a:sy n="38" d="100"/>
        </p:scale>
        <p:origin x="88" y="1088"/>
      </p:cViewPr>
      <p:guideLst>
        <p:guide orient="horz" pos="1512"/>
        <p:guide pos="10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6781979489173"/>
          <c:y val="0.12434769073778994"/>
          <c:w val="0.75012130905511809"/>
          <c:h val="0.812028420275590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6E-41FC-87A5-2AC2DA8C4662}"/>
              </c:ext>
            </c:extLst>
          </c:dPt>
          <c:cat>
            <c:strRef>
              <c:f>Sheet1!$A$2:$A$5</c:f>
              <c:strCache>
                <c:ptCount val="3"/>
                <c:pt idx="0">
                  <c:v>로지스틱</c:v>
                </c:pt>
                <c:pt idx="1">
                  <c:v>랜덤포레스트</c:v>
                </c:pt>
                <c:pt idx="2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0.84099999999999997</c:v>
                </c:pt>
                <c:pt idx="1">
                  <c:v>0.85499999999999998</c:v>
                </c:pt>
                <c:pt idx="2">
                  <c:v>0.85399999999999998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86-4B01-90F5-FEE3EAB910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 cmpd="dbl">
              <a:solidFill>
                <a:schemeClr val="accent1">
                  <a:alpha val="98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로지스틱</c:v>
                </c:pt>
                <c:pt idx="1">
                  <c:v>랜덤포레스트</c:v>
                </c:pt>
                <c:pt idx="2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1B86-4B01-90F5-FEE3EAB910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로지스틱</c:v>
                </c:pt>
                <c:pt idx="1">
                  <c:v>랜덤포레스트</c:v>
                </c:pt>
                <c:pt idx="2">
                  <c:v>XGBoost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1B86-4B01-90F5-FEE3EAB91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80"/>
        <c:axId val="1637854735"/>
        <c:axId val="1234825487"/>
      </c:barChart>
      <c:catAx>
        <c:axId val="1637854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34825487"/>
        <c:crosses val="autoZero"/>
        <c:auto val="1"/>
        <c:lblAlgn val="ctr"/>
        <c:lblOffset val="100"/>
        <c:noMultiLvlLbl val="0"/>
      </c:catAx>
      <c:valAx>
        <c:axId val="1234825487"/>
        <c:scaling>
          <c:orientation val="minMax"/>
          <c:max val="0.9"/>
          <c:min val="0.75000000000000011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37854735"/>
        <c:crosses val="autoZero"/>
        <c:crossBetween val="between"/>
        <c:majorUnit val="5.000000000000001E-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777676983897798"/>
          <c:y val="3.3129636378949376E-2"/>
          <c:w val="0.78222323016102202"/>
          <c:h val="0.9479391428330795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1D-471D-BADB-E676F138189E}"/>
              </c:ext>
            </c:extLst>
          </c:dPt>
          <c:cat>
            <c:strRef>
              <c:f>Sheet1!$A$2:$A$5</c:f>
              <c:strCache>
                <c:ptCount val="4"/>
                <c:pt idx="0">
                  <c:v>연령</c:v>
                </c:pt>
                <c:pt idx="1">
                  <c:v>학력</c:v>
                </c:pt>
                <c:pt idx="2">
                  <c:v>우울(CES-D)</c:v>
                </c:pt>
                <c:pt idx="3">
                  <c:v>문화여가활동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0.28539999999999999</c:v>
                </c:pt>
                <c:pt idx="1">
                  <c:v>0.21690000000000001</c:v>
                </c:pt>
                <c:pt idx="2">
                  <c:v>0.1043</c:v>
                </c:pt>
                <c:pt idx="3">
                  <c:v>2.1399999999999999E-2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1D-471D-BADB-E676F13818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연령</c:v>
                </c:pt>
                <c:pt idx="1">
                  <c:v>학력</c:v>
                </c:pt>
                <c:pt idx="2">
                  <c:v>우울(CES-D)</c:v>
                </c:pt>
                <c:pt idx="3">
                  <c:v>문화여가활동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D71D-471D-BADB-E676F13818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연령</c:v>
                </c:pt>
                <c:pt idx="1">
                  <c:v>학력</c:v>
                </c:pt>
                <c:pt idx="2">
                  <c:v>우울(CES-D)</c:v>
                </c:pt>
                <c:pt idx="3">
                  <c:v>문화여가활동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D71D-471D-BADB-E676F1381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62644336"/>
        <c:axId val="1447615600"/>
      </c:barChart>
      <c:catAx>
        <c:axId val="16626443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47615600"/>
        <c:crosses val="autoZero"/>
        <c:auto val="1"/>
        <c:lblAlgn val="ctr"/>
        <c:lblOffset val="100"/>
        <c:noMultiLvlLbl val="0"/>
      </c:catAx>
      <c:valAx>
        <c:axId val="144761560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6264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0" y="8572500"/>
            <a:ext cx="7350633" cy="533400"/>
            <a:chOff x="0" y="0"/>
            <a:chExt cx="1935969" cy="97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5969" cy="97249"/>
            </a:xfrm>
            <a:custGeom>
              <a:avLst/>
              <a:gdLst/>
              <a:ahLst/>
              <a:cxnLst/>
              <a:rect l="l" t="t" r="r" b="b"/>
              <a:pathLst>
                <a:path w="1935969" h="97249">
                  <a:moveTo>
                    <a:pt x="0" y="0"/>
                  </a:moveTo>
                  <a:lnTo>
                    <a:pt x="1935969" y="0"/>
                  </a:lnTo>
                  <a:lnTo>
                    <a:pt x="1935969" y="97249"/>
                  </a:lnTo>
                  <a:lnTo>
                    <a:pt x="0" y="97249"/>
                  </a:lnTo>
                  <a:close/>
                </a:path>
              </a:pathLst>
            </a:custGeom>
            <a:solidFill>
              <a:srgbClr val="2F2F2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35969" cy="135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00681" y="1414945"/>
            <a:ext cx="12286638" cy="333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</a:pPr>
            <a:r>
              <a:rPr lang="ko-KR" altLang="en-US" sz="5500" spc="-799" dirty="0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고령화 연구  패널조사를   활용한   노인 인지기능  저하 예측모델에서   </a:t>
            </a:r>
            <a:r>
              <a:rPr lang="ko-KR" altLang="en-US" sz="5500" spc="-799" dirty="0" err="1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문화여가활동의</a:t>
            </a:r>
            <a:r>
              <a:rPr lang="ko-KR" altLang="en-US" sz="5500" spc="-799" dirty="0">
                <a:solidFill>
                  <a:srgbClr val="2F2F2F"/>
                </a:solidFill>
                <a:latin typeface="Nanum Square"/>
                <a:ea typeface="Nanum Square"/>
                <a:cs typeface="Nanum Square"/>
                <a:sym typeface="Nanum Square"/>
              </a:rPr>
              <a:t>   상대적  중요도   분석 </a:t>
            </a:r>
            <a:endParaRPr lang="en-US" sz="5500" spc="-799" dirty="0">
              <a:solidFill>
                <a:srgbClr val="2F2F2F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38600" y="5123848"/>
            <a:ext cx="10351400" cy="113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4"/>
              </a:lnSpc>
            </a:pPr>
            <a:r>
              <a:rPr lang="en-US" altLang="ko-KR" sz="4400" spc="-480" dirty="0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:  </a:t>
            </a:r>
            <a:r>
              <a:rPr lang="ko-KR" altLang="en-US" sz="4400" spc="-480" dirty="0" err="1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머신러닝</a:t>
            </a:r>
            <a:r>
              <a:rPr lang="ko-KR" altLang="en-US" sz="4400" spc="-480" dirty="0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  </a:t>
            </a:r>
            <a:r>
              <a:rPr lang="en-US" altLang="ko-KR" sz="4400" spc="-480" dirty="0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`</a:t>
            </a:r>
            <a:r>
              <a:rPr lang="ko-KR" altLang="en-US" sz="4400" spc="-480" dirty="0">
                <a:solidFill>
                  <a:srgbClr val="2F2F2F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기법을  중심으로</a:t>
            </a:r>
            <a:endParaRPr lang="en-US" sz="4400" spc="-480" dirty="0">
              <a:solidFill>
                <a:srgbClr val="2F2F2F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19920" y="8724900"/>
            <a:ext cx="8633659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6"/>
              </a:lnSpc>
            </a:pPr>
            <a:r>
              <a:rPr lang="en-US" sz="2000" spc="70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20242378 </a:t>
            </a:r>
            <a:r>
              <a:rPr lang="ko-KR" altLang="en-US" sz="2000" spc="70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김자영</a:t>
            </a:r>
            <a:endParaRPr lang="en-US" sz="2000" spc="70" dirty="0">
              <a:solidFill>
                <a:srgbClr val="FFFFFF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2420-0B46-31B3-4DE3-75F2EE61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EE827AF-1B9F-3758-B188-6ED3572370C0}"/>
              </a:ext>
            </a:extLst>
          </p:cNvPr>
          <p:cNvSpPr/>
          <p:nvPr/>
        </p:nvSpPr>
        <p:spPr>
          <a:xfrm flipH="1">
            <a:off x="7848600" y="3162300"/>
            <a:ext cx="3006565" cy="0"/>
          </a:xfrm>
          <a:prstGeom prst="line">
            <a:avLst/>
          </a:prstGeom>
          <a:ln w="95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A840B35-E329-E4FD-F4CB-782CF01E6193}"/>
              </a:ext>
            </a:extLst>
          </p:cNvPr>
          <p:cNvSpPr/>
          <p:nvPr/>
        </p:nvSpPr>
        <p:spPr>
          <a:xfrm flipH="1">
            <a:off x="7848600" y="4657711"/>
            <a:ext cx="3006565" cy="0"/>
          </a:xfrm>
          <a:prstGeom prst="line">
            <a:avLst/>
          </a:prstGeom>
          <a:ln w="95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63FBC39-B04F-B483-CA00-64E42880DC13}"/>
              </a:ext>
            </a:extLst>
          </p:cNvPr>
          <p:cNvSpPr/>
          <p:nvPr/>
        </p:nvSpPr>
        <p:spPr>
          <a:xfrm flipH="1">
            <a:off x="7848600" y="6153122"/>
            <a:ext cx="3006565" cy="0"/>
          </a:xfrm>
          <a:prstGeom prst="line">
            <a:avLst/>
          </a:prstGeom>
          <a:ln w="95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437B6F5-CD4F-E385-491F-38B8FCF046BD}"/>
              </a:ext>
            </a:extLst>
          </p:cNvPr>
          <p:cNvSpPr/>
          <p:nvPr/>
        </p:nvSpPr>
        <p:spPr>
          <a:xfrm flipH="1">
            <a:off x="7868652" y="7648533"/>
            <a:ext cx="3006565" cy="0"/>
          </a:xfrm>
          <a:prstGeom prst="line">
            <a:avLst/>
          </a:prstGeom>
          <a:ln w="95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6DD96737-C089-6404-DAA0-9CCE23428998}"/>
              </a:ext>
            </a:extLst>
          </p:cNvPr>
          <p:cNvSpPr/>
          <p:nvPr/>
        </p:nvSpPr>
        <p:spPr>
          <a:xfrm flipH="1">
            <a:off x="7823735" y="9143942"/>
            <a:ext cx="3006565" cy="0"/>
          </a:xfrm>
          <a:prstGeom prst="line">
            <a:avLst/>
          </a:prstGeom>
          <a:ln w="95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3C43007-82FA-6A8E-91ED-866A541A770D}"/>
              </a:ext>
            </a:extLst>
          </p:cNvPr>
          <p:cNvSpPr txBox="1"/>
          <p:nvPr/>
        </p:nvSpPr>
        <p:spPr>
          <a:xfrm>
            <a:off x="7601753" y="590670"/>
            <a:ext cx="3084494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88"/>
              </a:lnSpc>
            </a:pPr>
            <a:r>
              <a:rPr lang="ko-KR" altLang="en-US" sz="4800" b="1" spc="-144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목차</a:t>
            </a:r>
            <a:endParaRPr lang="en-US" sz="4800" b="1" spc="-144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C410F45-E34B-3AE7-E9F9-CEF1E353DA56}"/>
              </a:ext>
            </a:extLst>
          </p:cNvPr>
          <p:cNvSpPr txBox="1"/>
          <p:nvPr/>
        </p:nvSpPr>
        <p:spPr>
          <a:xfrm>
            <a:off x="8162681" y="2476500"/>
            <a:ext cx="2020249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서론</a:t>
            </a:r>
            <a:endParaRPr lang="en-US" sz="2400" b="1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BC72DE2-E5B8-F777-1633-EFFDA2F99CA8}"/>
              </a:ext>
            </a:extLst>
          </p:cNvPr>
          <p:cNvSpPr txBox="1"/>
          <p:nvPr/>
        </p:nvSpPr>
        <p:spPr>
          <a:xfrm>
            <a:off x="8162681" y="3971911"/>
            <a:ext cx="2020249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관련 연구</a:t>
            </a:r>
            <a:endParaRPr lang="en-US" sz="2400" b="1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3523E6F-9F64-FA57-4673-8FFDACEC4D27}"/>
              </a:ext>
            </a:extLst>
          </p:cNvPr>
          <p:cNvSpPr txBox="1"/>
          <p:nvPr/>
        </p:nvSpPr>
        <p:spPr>
          <a:xfrm>
            <a:off x="8162681" y="5467322"/>
            <a:ext cx="2020249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연구 방법</a:t>
            </a:r>
            <a:endParaRPr lang="en-US" sz="2400" b="1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397E111-9292-A9F5-F361-149329765564}"/>
              </a:ext>
            </a:extLst>
          </p:cNvPr>
          <p:cNvSpPr txBox="1"/>
          <p:nvPr/>
        </p:nvSpPr>
        <p:spPr>
          <a:xfrm>
            <a:off x="8182733" y="6962732"/>
            <a:ext cx="2020249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연구 결과</a:t>
            </a:r>
            <a:endParaRPr lang="en-US" sz="2400" b="1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0044A1F-1F37-DF9D-6F34-1DC0FAD4616F}"/>
              </a:ext>
            </a:extLst>
          </p:cNvPr>
          <p:cNvSpPr txBox="1"/>
          <p:nvPr/>
        </p:nvSpPr>
        <p:spPr>
          <a:xfrm>
            <a:off x="8137816" y="8458142"/>
            <a:ext cx="2020249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"/>
              </a:lnSpc>
            </a:pPr>
            <a:r>
              <a:rPr lang="ko-KR" altLang="en-US" sz="2400" b="1" dirty="0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논의 및 결론</a:t>
            </a:r>
            <a:endParaRPr lang="en-US" sz="2400" b="1" dirty="0">
              <a:solidFill>
                <a:srgbClr val="000000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  <p:extLst>
      <p:ext uri="{BB962C8B-B14F-4D97-AF65-F5344CB8AC3E}">
        <p14:creationId xmlns:p14="http://schemas.microsoft.com/office/powerpoint/2010/main" val="229421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EEBAF-0550-CD22-4FBA-3F3F33EC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36799BC9-CF93-C703-9987-343F55489DF7}"/>
              </a:ext>
            </a:extLst>
          </p:cNvPr>
          <p:cNvSpPr/>
          <p:nvPr/>
        </p:nvSpPr>
        <p:spPr>
          <a:xfrm flipV="1">
            <a:off x="1287606" y="24003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42D46A0-7D1E-C663-A7F9-7FFB4462A75F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8ED9846-92D1-C502-8B43-90C60112AFC1}"/>
              </a:ext>
            </a:extLst>
          </p:cNvPr>
          <p:cNvSpPr/>
          <p:nvPr/>
        </p:nvSpPr>
        <p:spPr>
          <a:xfrm>
            <a:off x="17159484" y="19769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36C50B0-1494-B5BB-C780-B644CC59F92E}"/>
              </a:ext>
            </a:extLst>
          </p:cNvPr>
          <p:cNvGrpSpPr/>
          <p:nvPr/>
        </p:nvGrpSpPr>
        <p:grpSpPr>
          <a:xfrm>
            <a:off x="1626686" y="3881397"/>
            <a:ext cx="7611664" cy="4155484"/>
            <a:chOff x="-3961551" y="-65061"/>
            <a:chExt cx="10148885" cy="5540645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C4A4A55-BA41-ACE5-FDE3-77E3D69D5463}"/>
                </a:ext>
              </a:extLst>
            </p:cNvPr>
            <p:cNvGrpSpPr/>
            <p:nvPr/>
          </p:nvGrpSpPr>
          <p:grpSpPr>
            <a:xfrm>
              <a:off x="5651843" y="1848725"/>
              <a:ext cx="535491" cy="1519432"/>
              <a:chOff x="-35474" y="-38100"/>
              <a:chExt cx="406400" cy="1153142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F774008B-A658-DED8-8262-4106DF51FEAE}"/>
                  </a:ext>
                </a:extLst>
              </p:cNvPr>
              <p:cNvSpPr/>
              <p:nvPr/>
            </p:nvSpPr>
            <p:spPr>
              <a:xfrm>
                <a:off x="-35474" y="708642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3BA32839-5E69-D57D-C91C-F56C97EEBA0E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C042858-9E51-266E-E201-A96A9C31AD26}"/>
                </a:ext>
              </a:extLst>
            </p:cNvPr>
            <p:cNvSpPr txBox="1"/>
            <p:nvPr/>
          </p:nvSpPr>
          <p:spPr>
            <a:xfrm>
              <a:off x="-1891018" y="-65061"/>
              <a:ext cx="5202514" cy="6125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7"/>
                </a:lnSpc>
              </a:pPr>
              <a:r>
                <a:rPr lang="ko-KR" altLang="en-US" sz="4000" spc="-42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초고령사회 진입</a:t>
              </a:r>
              <a:endParaRPr lang="en-US" sz="4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7E36261-BD1F-4065-FEBE-E0857911F398}"/>
                </a:ext>
              </a:extLst>
            </p:cNvPr>
            <p:cNvSpPr txBox="1"/>
            <p:nvPr/>
          </p:nvSpPr>
          <p:spPr>
            <a:xfrm>
              <a:off x="-3961551" y="1249554"/>
              <a:ext cx="9164066" cy="42260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2024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년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12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월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, 65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세 인구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20.0% 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돌파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-&gt; </a:t>
              </a:r>
              <a:r>
                <a:rPr lang="ko-KR" altLang="en-US" sz="2800" spc="-31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초고령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사회 공식 진입</a:t>
              </a:r>
              <a:endPara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치매 유병률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9.25% (2023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년 기준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)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경도인지장애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(MCI) 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유병률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28.42% - 2016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년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(22.25%) </a:t>
              </a:r>
              <a:r>
                <a:rPr lang="ko-KR" altLang="en-US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대비 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+6.17%p</a:t>
              </a:r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23AEF38-B7F1-585D-0AF4-5DB8CC564186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연구 배경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ECD5979-3DC3-7350-7697-8DBBFD54E78C}"/>
              </a:ext>
            </a:extLst>
          </p:cNvPr>
          <p:cNvSpPr txBox="1"/>
          <p:nvPr/>
        </p:nvSpPr>
        <p:spPr>
          <a:xfrm>
            <a:off x="10363200" y="3879245"/>
            <a:ext cx="5230821" cy="459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4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확산 추세와 대응 필요성</a:t>
            </a:r>
            <a:endParaRPr lang="en-US" sz="40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4FA9F6F-470A-77C2-6E08-A5037B2A33E4}"/>
              </a:ext>
            </a:extLst>
          </p:cNvPr>
          <p:cNvSpPr txBox="1"/>
          <p:nvPr/>
        </p:nvSpPr>
        <p:spPr>
          <a:xfrm>
            <a:off x="9703886" y="4850689"/>
            <a:ext cx="7341686" cy="381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국내 치매 환자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, 2025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년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97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만 명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-&gt; 2044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년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200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만 명 돌파 전망</a:t>
            </a:r>
            <a:endParaRPr lang="en-US" altLang="ko-KR" sz="2800" spc="-31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인지기능저하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-&gt; 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치매 이행 위험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 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자립성 저하 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 </a:t>
            </a:r>
            <a:r>
              <a:rPr lang="ko-KR" altLang="en-US" sz="2800" spc="-31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돌봄부담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증가로 직결</a:t>
            </a:r>
            <a:endParaRPr lang="en-US" altLang="ko-KR" sz="2800" spc="-31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조기 발견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· 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개입을 통한 </a:t>
            </a:r>
            <a:r>
              <a:rPr lang="ko-KR" altLang="en-US" sz="2800" spc="-31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위험군</a:t>
            </a:r>
            <a:r>
              <a:rPr lang="ko-KR" altLang="en-US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선별이 핵심 과제로 대두</a:t>
            </a:r>
            <a:endParaRPr lang="en-US" sz="2800" spc="-31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244139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61F4-D985-615E-8643-31125A02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C571E68D-C1D6-7556-2AC9-84496C6ED44A}"/>
              </a:ext>
            </a:extLst>
          </p:cNvPr>
          <p:cNvSpPr/>
          <p:nvPr/>
        </p:nvSpPr>
        <p:spPr>
          <a:xfrm flipV="1">
            <a:off x="1324007" y="2421467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A7FD5A0-0B61-BFE9-6DDF-A21271E4B5B2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ED9193E-9D02-1F3F-0B6B-D2CDEC249D79}"/>
              </a:ext>
            </a:extLst>
          </p:cNvPr>
          <p:cNvSpPr/>
          <p:nvPr/>
        </p:nvSpPr>
        <p:spPr>
          <a:xfrm>
            <a:off x="17145000" y="200176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5E044A4-1594-DFC9-A44C-A670C7B183F5}"/>
              </a:ext>
            </a:extLst>
          </p:cNvPr>
          <p:cNvSpPr txBox="1"/>
          <p:nvPr/>
        </p:nvSpPr>
        <p:spPr>
          <a:xfrm>
            <a:off x="1233504" y="3813311"/>
            <a:ext cx="1397392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선행 연구 한계 </a:t>
            </a:r>
            <a:endParaRPr lang="en-US" sz="2800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A33826-EC1E-A2BE-F10D-C24797B49DC6}"/>
              </a:ext>
            </a:extLst>
          </p:cNvPr>
          <p:cNvSpPr txBox="1"/>
          <p:nvPr/>
        </p:nvSpPr>
        <p:spPr>
          <a:xfrm>
            <a:off x="1233504" y="4354523"/>
            <a:ext cx="12741867" cy="10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: 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여가활동을 세부유형 구분 없이 포괄 지표로 다룸 </a:t>
            </a:r>
            <a:r>
              <a:rPr lang="en-US" altLang="ko-KR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/ 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회귀분석 중심으로 인과 근거 제한적 </a:t>
            </a:r>
            <a:r>
              <a:rPr lang="en-US" altLang="ko-KR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/ 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황혜진 외</a:t>
            </a:r>
            <a:r>
              <a:rPr lang="en-US" altLang="ko-KR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(2018)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는 </a:t>
            </a:r>
            <a:r>
              <a:rPr lang="ko-KR" altLang="en-US" sz="2500" spc="-28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미포함 </a:t>
            </a:r>
            <a:r>
              <a:rPr lang="en-US" altLang="ko-KR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+ 2016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년 이전 자료</a:t>
            </a:r>
            <a:endParaRPr lang="en-US" sz="2500" spc="-28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7005506-9701-7716-2867-7B3F4F0F668B}"/>
              </a:ext>
            </a:extLst>
          </p:cNvPr>
          <p:cNvSpPr txBox="1"/>
          <p:nvPr/>
        </p:nvSpPr>
        <p:spPr>
          <a:xfrm>
            <a:off x="1233503" y="7974758"/>
            <a:ext cx="12741867" cy="30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8"/>
              </a:lnSpc>
            </a:pP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최신 자료 </a:t>
            </a:r>
            <a:r>
              <a:rPr lang="en-US" altLang="ko-KR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+ </a:t>
            </a:r>
            <a:r>
              <a:rPr lang="ko-KR" altLang="en-US" sz="2500" spc="-28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문화여가활동을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명시적 예측변수로 포함한 </a:t>
            </a:r>
            <a:r>
              <a:rPr lang="ko-KR" altLang="en-US" sz="2500" spc="-28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머신러닝</a:t>
            </a:r>
            <a:r>
              <a:rPr lang="ko-KR" altLang="en-US" sz="2500" spc="-28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모델 필요</a:t>
            </a:r>
            <a:endParaRPr lang="en-US" sz="2500" spc="-28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50DB261-29AF-C256-AB45-0E1C6CEAE865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연구 필요성</a:t>
            </a:r>
            <a:r>
              <a:rPr lang="en-US" altLang="ko-KR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	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8" name="화살표: 갈매기형 수장 27">
            <a:extLst>
              <a:ext uri="{FF2B5EF4-FFF2-40B4-BE49-F238E27FC236}">
                <a16:creationId xmlns:a16="http://schemas.microsoft.com/office/drawing/2014/main" id="{2FF0B48B-6010-D1C2-FCEF-A2232C94537B}"/>
              </a:ext>
            </a:extLst>
          </p:cNvPr>
          <p:cNvSpPr/>
          <p:nvPr/>
        </p:nvSpPr>
        <p:spPr>
          <a:xfrm rot="5400000">
            <a:off x="4399231" y="6176268"/>
            <a:ext cx="612237" cy="723900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1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6E2C-3196-E1A7-EE58-70D10EF4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39">
            <a:extLst>
              <a:ext uri="{FF2B5EF4-FFF2-40B4-BE49-F238E27FC236}">
                <a16:creationId xmlns:a16="http://schemas.microsoft.com/office/drawing/2014/main" id="{DE0DE699-2EE1-BD28-CD3F-70294FFE510A}"/>
              </a:ext>
            </a:extLst>
          </p:cNvPr>
          <p:cNvSpPr/>
          <p:nvPr/>
        </p:nvSpPr>
        <p:spPr>
          <a:xfrm flipV="1">
            <a:off x="1324007" y="24003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56E95C63-D2D3-0DB8-4491-FCCAA5AC39AC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8F3C08F4-9E99-20E3-16CA-EEDEBD7B5679}"/>
              </a:ext>
            </a:extLst>
          </p:cNvPr>
          <p:cNvSpPr/>
          <p:nvPr/>
        </p:nvSpPr>
        <p:spPr>
          <a:xfrm>
            <a:off x="17172195" y="1967398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7B31DE06-75A3-BE0E-8196-FA843EC57C3E}"/>
              </a:ext>
            </a:extLst>
          </p:cNvPr>
          <p:cNvGrpSpPr/>
          <p:nvPr/>
        </p:nvGrpSpPr>
        <p:grpSpPr>
          <a:xfrm>
            <a:off x="2590800" y="3917219"/>
            <a:ext cx="12596821" cy="873639"/>
            <a:chOff x="2590800" y="3917219"/>
            <a:chExt cx="12596821" cy="873639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B9D03B67-23CE-50DC-6F8C-6B3674F956A6}"/>
                </a:ext>
              </a:extLst>
            </p:cNvPr>
            <p:cNvGrpSpPr/>
            <p:nvPr/>
          </p:nvGrpSpPr>
          <p:grpSpPr>
            <a:xfrm>
              <a:off x="2590800" y="3917219"/>
              <a:ext cx="12596821" cy="873633"/>
              <a:chOff x="0" y="0"/>
              <a:chExt cx="2923599" cy="134916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D6CD4D2F-2FC4-339A-8FF5-804AF0126B46}"/>
                  </a:ext>
                </a:extLst>
              </p:cNvPr>
              <p:cNvSpPr/>
              <p:nvPr/>
            </p:nvSpPr>
            <p:spPr>
              <a:xfrm>
                <a:off x="0" y="0"/>
                <a:ext cx="2923599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2923599" h="134916">
                    <a:moveTo>
                      <a:pt x="0" y="0"/>
                    </a:moveTo>
                    <a:lnTo>
                      <a:pt x="2923599" y="0"/>
                    </a:lnTo>
                    <a:lnTo>
                      <a:pt x="2923599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1BC270E-68C6-57BF-673B-20B5E37C781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23599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33B0063-DDC5-6DCF-24C2-8B523A4789E3}"/>
                </a:ext>
              </a:extLst>
            </p:cNvPr>
            <p:cNvGrpSpPr/>
            <p:nvPr/>
          </p:nvGrpSpPr>
          <p:grpSpPr>
            <a:xfrm>
              <a:off x="2590800" y="3917220"/>
              <a:ext cx="876974" cy="873638"/>
              <a:chOff x="0" y="0"/>
              <a:chExt cx="134916" cy="134916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61CBB3DB-9209-7C68-6020-EFC041E473E8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C7F5365-8994-216F-E377-B623922B76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44510CE0-3BBB-3D88-B49B-15BCF0FC3127}"/>
                </a:ext>
              </a:extLst>
            </p:cNvPr>
            <p:cNvSpPr txBox="1"/>
            <p:nvPr/>
          </p:nvSpPr>
          <p:spPr>
            <a:xfrm>
              <a:off x="3723968" y="4137123"/>
              <a:ext cx="10622862" cy="397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40"/>
                </a:lnSpc>
              </a:pPr>
              <a:r>
                <a:rPr lang="ko-KR" altLang="en-US" sz="28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머신 러닝</a:t>
              </a:r>
              <a:r>
                <a:rPr lang="en-US" altLang="ko-KR" sz="28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(RF</a:t>
              </a:r>
              <a:r>
                <a:rPr lang="en-US" altLang="ko-KR" sz="2800" spc="-31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· </a:t>
              </a:r>
              <a:r>
                <a:rPr lang="en-US" altLang="ko-KR" sz="28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XG Boost) vs </a:t>
              </a:r>
              <a:r>
                <a:rPr lang="ko-KR" altLang="en-US" sz="28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로지스틱 회귀 예측성능 비교</a:t>
              </a:r>
              <a:endParaRPr lang="en-US" sz="2800" spc="-4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4A755E2F-2DD6-E3F7-34D7-8B008F01DFBF}"/>
                </a:ext>
              </a:extLst>
            </p:cNvPr>
            <p:cNvSpPr txBox="1"/>
            <p:nvPr/>
          </p:nvSpPr>
          <p:spPr>
            <a:xfrm>
              <a:off x="2608421" y="4116812"/>
              <a:ext cx="853166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RQ1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E501621-D9CB-DFA3-4E20-C8398F4232B3}"/>
              </a:ext>
            </a:extLst>
          </p:cNvPr>
          <p:cNvGrpSpPr/>
          <p:nvPr/>
        </p:nvGrpSpPr>
        <p:grpSpPr>
          <a:xfrm>
            <a:off x="2593416" y="5496143"/>
            <a:ext cx="12621637" cy="873632"/>
            <a:chOff x="2565984" y="5524415"/>
            <a:chExt cx="12621637" cy="895832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3FC933C-494B-5104-4837-6C9BDCC11853}"/>
                </a:ext>
              </a:extLst>
            </p:cNvPr>
            <p:cNvGrpSpPr/>
            <p:nvPr/>
          </p:nvGrpSpPr>
          <p:grpSpPr>
            <a:xfrm>
              <a:off x="2566992" y="5524415"/>
              <a:ext cx="12620629" cy="895832"/>
              <a:chOff x="0" y="0"/>
              <a:chExt cx="2923599" cy="134916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96B3FEC-CE84-4041-4C19-3EB6BAC15CA9}"/>
                  </a:ext>
                </a:extLst>
              </p:cNvPr>
              <p:cNvSpPr/>
              <p:nvPr/>
            </p:nvSpPr>
            <p:spPr>
              <a:xfrm>
                <a:off x="0" y="0"/>
                <a:ext cx="2923599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2923599" h="134916">
                    <a:moveTo>
                      <a:pt x="0" y="0"/>
                    </a:moveTo>
                    <a:lnTo>
                      <a:pt x="2923599" y="0"/>
                    </a:lnTo>
                    <a:lnTo>
                      <a:pt x="2923599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422599C-F804-506D-DC78-81E57FF7CD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23599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EB234621-8F4A-17DF-0215-5971FBF2B89E}"/>
                </a:ext>
              </a:extLst>
            </p:cNvPr>
            <p:cNvGrpSpPr/>
            <p:nvPr/>
          </p:nvGrpSpPr>
          <p:grpSpPr>
            <a:xfrm>
              <a:off x="2566992" y="5524415"/>
              <a:ext cx="900782" cy="895832"/>
              <a:chOff x="0" y="0"/>
              <a:chExt cx="134916" cy="134916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62BD26E2-2A3C-80AE-12D8-CB6CF047523C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01E82E54-5069-918F-3243-E2F82FADCB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92E11295-B457-8DC0-F641-1235B7C49188}"/>
                </a:ext>
              </a:extLst>
            </p:cNvPr>
            <p:cNvSpPr txBox="1"/>
            <p:nvPr/>
          </p:nvSpPr>
          <p:spPr>
            <a:xfrm>
              <a:off x="3700804" y="5762110"/>
              <a:ext cx="10948334" cy="407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ko-KR" altLang="en-US" sz="2700" spc="-40" dirty="0" err="1">
                  <a:latin typeface="Nanum Square"/>
                  <a:ea typeface="Nanum Square"/>
                  <a:cs typeface="Nanum Square"/>
                  <a:sym typeface="Nanum Square"/>
                </a:rPr>
                <a:t>문화여가활동의</a:t>
              </a:r>
              <a:r>
                <a:rPr lang="ko-KR" altLang="en-US" sz="2700" spc="-40" dirty="0">
                  <a:latin typeface="Nanum Square"/>
                  <a:ea typeface="Nanum Square"/>
                  <a:cs typeface="Nanum Square"/>
                  <a:sym typeface="Nanum Square"/>
                </a:rPr>
                <a:t> 상대적 예측 기여도 </a:t>
              </a:r>
              <a:r>
                <a:rPr lang="en-US" altLang="ko-KR" sz="2700" spc="-40" dirty="0">
                  <a:latin typeface="Nanum Square"/>
                  <a:ea typeface="Nanum Square"/>
                  <a:cs typeface="Nanum Square"/>
                  <a:sym typeface="Nanum Square"/>
                </a:rPr>
                <a:t>(</a:t>
              </a:r>
              <a:r>
                <a:rPr lang="ko-KR" altLang="en-US" sz="2700" spc="-40" dirty="0">
                  <a:latin typeface="Nanum Square"/>
                  <a:ea typeface="Nanum Square"/>
                  <a:cs typeface="Nanum Square"/>
                  <a:sym typeface="Nanum Square"/>
                </a:rPr>
                <a:t>타 변수 대비</a:t>
              </a:r>
              <a:r>
                <a:rPr lang="en-US" altLang="ko-KR" sz="2700" spc="-40" dirty="0">
                  <a:latin typeface="Nanum Square"/>
                  <a:ea typeface="Nanum Square"/>
                  <a:cs typeface="Nanum Square"/>
                  <a:sym typeface="Nanum Square"/>
                </a:rPr>
                <a:t>)</a:t>
              </a:r>
              <a:endParaRPr lang="en-US" sz="2700" spc="-40" dirty="0"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5161A6B2-695E-5994-7CCB-BE3B0591BD16}"/>
                </a:ext>
              </a:extLst>
            </p:cNvPr>
            <p:cNvSpPr txBox="1"/>
            <p:nvPr/>
          </p:nvSpPr>
          <p:spPr>
            <a:xfrm>
              <a:off x="2565984" y="5762705"/>
              <a:ext cx="876974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RQ2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B78693D-D184-F608-5D8D-B00091B52B6F}"/>
              </a:ext>
            </a:extLst>
          </p:cNvPr>
          <p:cNvGrpSpPr/>
          <p:nvPr/>
        </p:nvGrpSpPr>
        <p:grpSpPr>
          <a:xfrm>
            <a:off x="2593919" y="7043573"/>
            <a:ext cx="12621637" cy="868588"/>
            <a:chOff x="2565984" y="7153808"/>
            <a:chExt cx="12621637" cy="971745"/>
          </a:xfrm>
        </p:grpSpPr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194EDF8A-C793-F016-E451-0A337D8534FF}"/>
                </a:ext>
              </a:extLst>
            </p:cNvPr>
            <p:cNvGrpSpPr/>
            <p:nvPr/>
          </p:nvGrpSpPr>
          <p:grpSpPr>
            <a:xfrm>
              <a:off x="2566992" y="7153808"/>
              <a:ext cx="12620629" cy="971745"/>
              <a:chOff x="0" y="0"/>
              <a:chExt cx="2923599" cy="134916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AADD683E-DC0D-E3C3-6374-B05C22A761AF}"/>
                  </a:ext>
                </a:extLst>
              </p:cNvPr>
              <p:cNvSpPr/>
              <p:nvPr/>
            </p:nvSpPr>
            <p:spPr>
              <a:xfrm>
                <a:off x="0" y="0"/>
                <a:ext cx="2923599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2923599" h="134916">
                    <a:moveTo>
                      <a:pt x="0" y="0"/>
                    </a:moveTo>
                    <a:lnTo>
                      <a:pt x="2923599" y="0"/>
                    </a:lnTo>
                    <a:lnTo>
                      <a:pt x="2923599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7BE0150A-ABB3-8D89-B853-A3B7F80B9A4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23599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54B6248F-4343-6D55-4103-C4FC181F04F2}"/>
                </a:ext>
              </a:extLst>
            </p:cNvPr>
            <p:cNvGrpSpPr/>
            <p:nvPr/>
          </p:nvGrpSpPr>
          <p:grpSpPr>
            <a:xfrm>
              <a:off x="2566992" y="7153808"/>
              <a:ext cx="923489" cy="971745"/>
              <a:chOff x="0" y="0"/>
              <a:chExt cx="134916" cy="134916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76D9531F-AFA0-EF31-5588-8092A31F6715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02CEEE6F-2697-9F8A-2C0A-DFAD5C95B5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EE835799-BFAB-91FB-D0BB-53CB67FC539A}"/>
                </a:ext>
              </a:extLst>
            </p:cNvPr>
            <p:cNvSpPr txBox="1"/>
            <p:nvPr/>
          </p:nvSpPr>
          <p:spPr>
            <a:xfrm>
              <a:off x="3723105" y="7391504"/>
              <a:ext cx="11206670" cy="39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ko-KR" altLang="en-US" sz="27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통계적 유의성과 상대적 중요도가 일관되는가</a:t>
              </a:r>
              <a:endParaRPr lang="en-US" sz="2700" spc="-4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FE010438-ED02-716F-8EAB-2BCAE9AAB4BD}"/>
                </a:ext>
              </a:extLst>
            </p:cNvPr>
            <p:cNvSpPr txBox="1"/>
            <p:nvPr/>
          </p:nvSpPr>
          <p:spPr>
            <a:xfrm>
              <a:off x="2565984" y="7392099"/>
              <a:ext cx="899728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RQ3</a:t>
              </a:r>
            </a:p>
          </p:txBody>
        </p:sp>
      </p:grpSp>
      <p:sp>
        <p:nvSpPr>
          <p:cNvPr id="52" name="TextBox 52">
            <a:extLst>
              <a:ext uri="{FF2B5EF4-FFF2-40B4-BE49-F238E27FC236}">
                <a16:creationId xmlns:a16="http://schemas.microsoft.com/office/drawing/2014/main" id="{B5919273-C803-D1B7-2B63-CD03A0F78752}"/>
              </a:ext>
            </a:extLst>
          </p:cNvPr>
          <p:cNvSpPr txBox="1"/>
          <p:nvPr/>
        </p:nvSpPr>
        <p:spPr>
          <a:xfrm>
            <a:off x="1233504" y="1148072"/>
            <a:ext cx="821529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연구 목적 및 연구 문제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</p:spTree>
    <p:extLst>
      <p:ext uri="{BB962C8B-B14F-4D97-AF65-F5344CB8AC3E}">
        <p14:creationId xmlns:p14="http://schemas.microsoft.com/office/powerpoint/2010/main" val="339847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FF1D-3FE6-3D4C-D86A-ADEE746F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A028F20D-4BB3-A7B2-6BC6-C5F921D619CC}"/>
              </a:ext>
            </a:extLst>
          </p:cNvPr>
          <p:cNvSpPr/>
          <p:nvPr/>
        </p:nvSpPr>
        <p:spPr>
          <a:xfrm flipV="1">
            <a:off x="1324007" y="24384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5D08834-6580-CF8E-5196-4128CB81D0D4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FF21153-4A05-4D88-E0E5-3212ADA3B72A}"/>
              </a:ext>
            </a:extLst>
          </p:cNvPr>
          <p:cNvSpPr/>
          <p:nvPr/>
        </p:nvSpPr>
        <p:spPr>
          <a:xfrm>
            <a:off x="17145000" y="19896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8D08BD-6784-7C61-A969-82163EF4A27D}"/>
              </a:ext>
            </a:extLst>
          </p:cNvPr>
          <p:cNvSpPr txBox="1"/>
          <p:nvPr/>
        </p:nvSpPr>
        <p:spPr>
          <a:xfrm>
            <a:off x="1246523" y="6657997"/>
            <a:ext cx="11430000" cy="1745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이론적 배경</a:t>
            </a:r>
            <a:endParaRPr lang="en-US" altLang="ko-KR" sz="2500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인지예비능 가설</a:t>
            </a:r>
            <a:r>
              <a:rPr lang="en-US" altLang="ko-KR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(stern, 2002) : </a:t>
            </a: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인지적 자극 활동 </a:t>
            </a:r>
            <a:r>
              <a:rPr lang="en-US" altLang="ko-KR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-&gt; </a:t>
            </a: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인지예비능 형성</a:t>
            </a:r>
            <a:endParaRPr lang="en-US" altLang="ko-KR" sz="25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교육수준 </a:t>
            </a:r>
            <a:r>
              <a:rPr lang="en-US" altLang="ko-KR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– </a:t>
            </a: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치매위험 메타분석 </a:t>
            </a:r>
            <a:r>
              <a:rPr lang="en-US" altLang="ko-KR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 OR = 2.61) -</a:t>
            </a:r>
            <a:r>
              <a:rPr lang="en-US" altLang="ko-KR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Wingdings" panose="05000000000000000000" pitchFamily="2" charset="2"/>
              </a:rPr>
              <a:t>&gt; </a:t>
            </a:r>
            <a:r>
              <a:rPr lang="ko-KR" altLang="en-US" sz="25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Wingdings" panose="05000000000000000000" pitchFamily="2" charset="2"/>
              </a:rPr>
              <a:t>문화여가활동도</a:t>
            </a: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Wingdings" panose="05000000000000000000" pitchFamily="2" charset="2"/>
              </a:rPr>
              <a:t> 유사한 보호 기제로 논의 </a:t>
            </a:r>
            <a:endParaRPr lang="en-US" sz="25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33CE9E6-226A-927C-1AD5-9F1584F00844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관련 연구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BA69F2C-C2B8-FFB5-D9F5-3520BEBBD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460306"/>
              </p:ext>
            </p:extLst>
          </p:nvPr>
        </p:nvGraphicFramePr>
        <p:xfrm>
          <a:off x="5105400" y="3176704"/>
          <a:ext cx="11430000" cy="303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4681">
                  <a:extLst>
                    <a:ext uri="{9D8B030D-6E8A-4147-A177-3AD203B41FA5}">
                      <a16:colId xmlns:a16="http://schemas.microsoft.com/office/drawing/2014/main" val="4047764923"/>
                    </a:ext>
                  </a:extLst>
                </a:gridCol>
                <a:gridCol w="4158314">
                  <a:extLst>
                    <a:ext uri="{9D8B030D-6E8A-4147-A177-3AD203B41FA5}">
                      <a16:colId xmlns:a16="http://schemas.microsoft.com/office/drawing/2014/main" val="1435319591"/>
                    </a:ext>
                  </a:extLst>
                </a:gridCol>
                <a:gridCol w="3867005">
                  <a:extLst>
                    <a:ext uri="{9D8B030D-6E8A-4147-A177-3AD203B41FA5}">
                      <a16:colId xmlns:a16="http://schemas.microsoft.com/office/drawing/2014/main" val="758852189"/>
                    </a:ext>
                  </a:extLst>
                </a:gridCol>
              </a:tblGrid>
              <a:tr h="7593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구분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황혜진 외</a:t>
                      </a:r>
                      <a:r>
                        <a:rPr lang="en-US" altLang="ko-KR" sz="2000" b="1" dirty="0"/>
                        <a:t>(2018)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본 연구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063023"/>
                  </a:ext>
                </a:extLst>
              </a:tr>
              <a:tr h="7593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조작화 방식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0" dirty="0"/>
                        <a:t>변화량</a:t>
                      </a:r>
                      <a:r>
                        <a:rPr lang="en-US" altLang="ko-KR" sz="2000" b="0" dirty="0"/>
                        <a:t>(change score)</a:t>
                      </a:r>
                      <a:endParaRPr lang="ko-KR" altLang="en-US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0" dirty="0"/>
                        <a:t>수준</a:t>
                      </a:r>
                      <a:r>
                        <a:rPr lang="en-US" altLang="ko-KR" sz="2000" b="0" dirty="0"/>
                        <a:t>(level), </a:t>
                      </a:r>
                      <a:r>
                        <a:rPr lang="ko-KR" altLang="en-US" sz="2000" b="0" dirty="0"/>
                        <a:t>시차설계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338644"/>
                  </a:ext>
                </a:extLst>
              </a:tr>
              <a:tr h="7593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 err="1"/>
                        <a:t>문화여가활동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0" dirty="0"/>
                        <a:t>미포함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0" dirty="0"/>
                        <a:t>명시적 예측변수 포함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60191"/>
                  </a:ext>
                </a:extLst>
              </a:tr>
              <a:tr h="7593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자료 시점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b="0" dirty="0"/>
                        <a:t>~2016</a:t>
                      </a:r>
                      <a:r>
                        <a:rPr lang="ko-KR" altLang="en-US" sz="2000" b="0" dirty="0"/>
                        <a:t>년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b="0" dirty="0"/>
                        <a:t>2022</a:t>
                      </a:r>
                      <a:r>
                        <a:rPr lang="ko-KR" altLang="en-US" sz="2000" b="0" dirty="0"/>
                        <a:t>년 </a:t>
                      </a:r>
                      <a:r>
                        <a:rPr lang="en-US" altLang="ko-KR" sz="2000" b="0" dirty="0"/>
                        <a:t>~ 2024</a:t>
                      </a:r>
                      <a:r>
                        <a:rPr lang="ko-KR" altLang="en-US" sz="2000" b="0" dirty="0"/>
                        <a:t>년</a:t>
                      </a:r>
                      <a:r>
                        <a:rPr lang="en-US" altLang="ko-KR" sz="2000" b="0" dirty="0"/>
                        <a:t>(9~10</a:t>
                      </a:r>
                      <a:r>
                        <a:rPr lang="ko-KR" altLang="en-US" sz="2000" b="0" dirty="0"/>
                        <a:t>차</a:t>
                      </a:r>
                      <a:r>
                        <a:rPr lang="en-US" altLang="ko-KR" sz="2000" b="0" dirty="0"/>
                        <a:t>)</a:t>
                      </a:r>
                      <a:endParaRPr lang="ko-KR" altLang="en-US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953148"/>
                  </a:ext>
                </a:extLst>
              </a:tr>
            </a:tbl>
          </a:graphicData>
        </a:graphic>
      </p:graphicFrame>
      <p:sp>
        <p:nvSpPr>
          <p:cNvPr id="24" name="TextBox 14">
            <a:extLst>
              <a:ext uri="{FF2B5EF4-FFF2-40B4-BE49-F238E27FC236}">
                <a16:creationId xmlns:a16="http://schemas.microsoft.com/office/drawing/2014/main" id="{48CEC9C3-7383-6F1E-2182-42E843DA7712}"/>
              </a:ext>
            </a:extLst>
          </p:cNvPr>
          <p:cNvSpPr txBox="1"/>
          <p:nvPr/>
        </p:nvSpPr>
        <p:spPr>
          <a:xfrm>
            <a:off x="1246523" y="2992482"/>
            <a:ext cx="3462512" cy="584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선행연구와의 </a:t>
            </a:r>
            <a:r>
              <a:rPr lang="ko-KR" altLang="en-US" sz="2800" b="1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차별점</a:t>
            </a:r>
            <a:endParaRPr lang="en-US" sz="2500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343503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4A41248-5C5B-9DDC-7969-EDD2C620BA41}"/>
              </a:ext>
            </a:extLst>
          </p:cNvPr>
          <p:cNvCxnSpPr>
            <a:cxnSpLocks/>
          </p:cNvCxnSpPr>
          <p:nvPr/>
        </p:nvCxnSpPr>
        <p:spPr>
          <a:xfrm>
            <a:off x="1180458" y="6667410"/>
            <a:ext cx="2556" cy="2557780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2"/>
          <p:cNvSpPr txBox="1"/>
          <p:nvPr/>
        </p:nvSpPr>
        <p:spPr>
          <a:xfrm>
            <a:off x="1132968" y="5887920"/>
            <a:ext cx="7827433" cy="3523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3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표본선정 흐름</a:t>
            </a:r>
            <a:endParaRPr lang="en-US" altLang="ko-KR" sz="2300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9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차 응답자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6,057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명</a:t>
            </a:r>
            <a:endParaRPr lang="en-US" altLang="ko-KR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altLang="ko-KR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9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· </a:t>
            </a:r>
            <a:r>
              <a:rPr 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10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차 응답자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5,379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명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			         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패널탈락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11.2%</a:t>
            </a: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altLang="ko-KR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최종 분석대상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5,353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명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			           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결측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26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명 제외</a:t>
            </a:r>
            <a:endParaRPr lang="en-US" altLang="ko-KR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인지기능저하 해당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1,741</a:t>
            </a:r>
            <a:r>
              <a:rPr lang="ko-KR" altLang="en-US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명 </a:t>
            </a:r>
            <a:r>
              <a:rPr lang="en-US" altLang="ko-KR" sz="21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(32.5%)</a:t>
            </a:r>
            <a:endParaRPr lang="en-US" sz="21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255514" y="24384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7161933" y="198906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연구 설계 및 자료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442386E-F85D-6A6E-540D-B9A3D94EE1B1}"/>
              </a:ext>
            </a:extLst>
          </p:cNvPr>
          <p:cNvSpPr/>
          <p:nvPr/>
        </p:nvSpPr>
        <p:spPr>
          <a:xfrm>
            <a:off x="998350" y="3360539"/>
            <a:ext cx="3200400" cy="180762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324D3B1-F46C-CE13-D745-CAEE5DF8D42B}"/>
              </a:ext>
            </a:extLst>
          </p:cNvPr>
          <p:cNvSpPr/>
          <p:nvPr/>
        </p:nvSpPr>
        <p:spPr>
          <a:xfrm>
            <a:off x="5726135" y="3360539"/>
            <a:ext cx="3200400" cy="180762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A4D6E45-43E9-009A-2CCA-EDFE86ABAD48}"/>
              </a:ext>
            </a:extLst>
          </p:cNvPr>
          <p:cNvSpPr/>
          <p:nvPr/>
        </p:nvSpPr>
        <p:spPr>
          <a:xfrm>
            <a:off x="4471376" y="4035762"/>
            <a:ext cx="982133" cy="45718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67E345D5-C762-50B8-0788-2C2E0384DCF7}"/>
              </a:ext>
            </a:extLst>
          </p:cNvPr>
          <p:cNvSpPr txBox="1"/>
          <p:nvPr/>
        </p:nvSpPr>
        <p:spPr>
          <a:xfrm>
            <a:off x="1180458" y="5336293"/>
            <a:ext cx="9220200" cy="391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000" i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역인과관계</a:t>
            </a:r>
            <a:r>
              <a:rPr lang="en-US" altLang="ko-KR" sz="2000" i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(reverse causation) </a:t>
            </a:r>
            <a:r>
              <a:rPr lang="ko-KR" altLang="en-US" sz="2000" i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문제에 강건한 시차설계 채택</a:t>
            </a:r>
            <a:endParaRPr lang="en-US" sz="2000" i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33AB9CF-18BF-2C19-9823-1A0F1515F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5662"/>
              </p:ext>
            </p:extLst>
          </p:nvPr>
        </p:nvGraphicFramePr>
        <p:xfrm>
          <a:off x="9390887" y="3402008"/>
          <a:ext cx="7619999" cy="3265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241">
                  <a:extLst>
                    <a:ext uri="{9D8B030D-6E8A-4147-A177-3AD203B41FA5}">
                      <a16:colId xmlns:a16="http://schemas.microsoft.com/office/drawing/2014/main" val="4047764923"/>
                    </a:ext>
                  </a:extLst>
                </a:gridCol>
                <a:gridCol w="5629758">
                  <a:extLst>
                    <a:ext uri="{9D8B030D-6E8A-4147-A177-3AD203B41FA5}">
                      <a16:colId xmlns:a16="http://schemas.microsoft.com/office/drawing/2014/main" val="1435319591"/>
                    </a:ext>
                  </a:extLst>
                </a:gridCol>
              </a:tblGrid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구분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변수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063023"/>
                  </a:ext>
                </a:extLst>
              </a:tr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결과변수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900" b="0" dirty="0"/>
                        <a:t>인지기능저하 여부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338644"/>
                  </a:ext>
                </a:extLst>
              </a:tr>
              <a:tr h="8335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예측변수</a:t>
                      </a:r>
                      <a:r>
                        <a:rPr lang="en-US" altLang="ko-KR" sz="2000" b="1" dirty="0"/>
                        <a:t> (5</a:t>
                      </a:r>
                      <a:r>
                        <a:rPr lang="ko-KR" altLang="en-US" sz="2000" b="1" dirty="0"/>
                        <a:t>개</a:t>
                      </a:r>
                      <a:r>
                        <a:rPr lang="en-US" altLang="ko-KR" sz="2000" b="1" dirty="0"/>
                        <a:t>)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IADL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우울</a:t>
                      </a:r>
                      <a:r>
                        <a:rPr lang="en-US" altLang="ko-KR" sz="1900" b="0" dirty="0"/>
                        <a:t>(CES-D)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사회적교류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소득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 err="1"/>
                        <a:t>문화여가활동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60191"/>
                  </a:ext>
                </a:extLst>
              </a:tr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통제변수 </a:t>
                      </a:r>
                      <a:r>
                        <a:rPr lang="en-US" altLang="ko-KR" sz="2000" b="1" dirty="0"/>
                        <a:t>(6</a:t>
                      </a:r>
                      <a:r>
                        <a:rPr lang="ko-KR" altLang="en-US" sz="2000" b="1" dirty="0"/>
                        <a:t>개</a:t>
                      </a:r>
                      <a:r>
                        <a:rPr lang="en-US" altLang="ko-KR" sz="2000" b="1" dirty="0"/>
                        <a:t>)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900" b="0" dirty="0"/>
                        <a:t>연령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성별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학력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만성질환개수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흡연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sym typeface="Nanum Square"/>
                        </a:rPr>
                        <a:t>·</a:t>
                      </a:r>
                      <a:r>
                        <a:rPr lang="ko-KR" altLang="en-US" sz="1900" b="0" dirty="0"/>
                        <a:t>음주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95314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1395C43-6768-E895-0965-A355B029AB79}"/>
              </a:ext>
            </a:extLst>
          </p:cNvPr>
          <p:cNvSpPr txBox="1"/>
          <p:nvPr/>
        </p:nvSpPr>
        <p:spPr>
          <a:xfrm>
            <a:off x="1462702" y="4002743"/>
            <a:ext cx="227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예측변수 </a:t>
            </a:r>
            <a:r>
              <a:rPr lang="en-US" altLang="ko-KR" sz="2800" b="1" dirty="0"/>
              <a:t>(X)</a:t>
            </a:r>
            <a:endParaRPr lang="ko-KR" altLang="en-US" sz="2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AEE760-B872-1258-3887-411D6FC38C3E}"/>
              </a:ext>
            </a:extLst>
          </p:cNvPr>
          <p:cNvSpPr txBox="1"/>
          <p:nvPr/>
        </p:nvSpPr>
        <p:spPr>
          <a:xfrm>
            <a:off x="6190487" y="4035762"/>
            <a:ext cx="227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결과변수 </a:t>
            </a:r>
            <a:r>
              <a:rPr lang="en-US" altLang="ko-KR" sz="2800" b="1" dirty="0"/>
              <a:t>(Y)</a:t>
            </a:r>
            <a:endParaRPr lang="ko-KR" altLang="en-US" sz="2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379855-D9D5-123B-E4DE-F5512019A87D}"/>
              </a:ext>
            </a:extLst>
          </p:cNvPr>
          <p:cNvSpPr txBox="1"/>
          <p:nvPr/>
        </p:nvSpPr>
        <p:spPr>
          <a:xfrm>
            <a:off x="1132968" y="3507743"/>
            <a:ext cx="227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9</a:t>
            </a:r>
            <a:r>
              <a:rPr lang="ko-KR" altLang="en-US" sz="2000" dirty="0"/>
              <a:t>차</a:t>
            </a:r>
            <a:r>
              <a:rPr lang="en-US" altLang="ko-KR" sz="20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en-US" altLang="ko-KR" sz="2000" dirty="0"/>
              <a:t>2022</a:t>
            </a:r>
            <a:r>
              <a:rPr lang="ko-KR" altLang="en-US" sz="2000" dirty="0"/>
              <a:t>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7C426A-75A6-0CBD-E185-45D5F0EF9EA9}"/>
              </a:ext>
            </a:extLst>
          </p:cNvPr>
          <p:cNvSpPr txBox="1"/>
          <p:nvPr/>
        </p:nvSpPr>
        <p:spPr>
          <a:xfrm>
            <a:off x="5953374" y="3507743"/>
            <a:ext cx="227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10</a:t>
            </a:r>
            <a:r>
              <a:rPr lang="ko-KR" altLang="en-US" sz="2000" dirty="0"/>
              <a:t>차</a:t>
            </a:r>
            <a:r>
              <a:rPr lang="en-US" altLang="ko-KR" sz="20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en-US" altLang="ko-KR" sz="2000" dirty="0"/>
              <a:t>2024</a:t>
            </a:r>
            <a:r>
              <a:rPr lang="ko-KR" altLang="en-US" sz="2000" dirty="0"/>
              <a:t>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09ED4-1D44-8B0E-265A-233F7D90725A}"/>
              </a:ext>
            </a:extLst>
          </p:cNvPr>
          <p:cNvSpPr txBox="1"/>
          <p:nvPr/>
        </p:nvSpPr>
        <p:spPr>
          <a:xfrm>
            <a:off x="1453558" y="4693880"/>
            <a:ext cx="227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IADL</a:t>
            </a:r>
            <a:r>
              <a:rPr lang="en-US" altLang="ko-KR" spc="-31" dirty="0">
                <a:solidFill>
                  <a:srgbClr val="000000"/>
                </a:solidFill>
                <a:sym typeface="Nanum Square"/>
              </a:rPr>
              <a:t>·</a:t>
            </a:r>
            <a:r>
              <a:rPr lang="ko-KR" altLang="en-US" dirty="0"/>
              <a:t>우울</a:t>
            </a:r>
            <a:r>
              <a:rPr lang="en-US" altLang="ko-KR" spc="-31" dirty="0">
                <a:solidFill>
                  <a:srgbClr val="000000"/>
                </a:solidFill>
                <a:sym typeface="Nanum Square"/>
              </a:rPr>
              <a:t>·</a:t>
            </a:r>
            <a:r>
              <a:rPr lang="ko-KR" altLang="en-US" dirty="0"/>
              <a:t>소득 등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1E82CE-F7BD-13AF-0678-884F6CF2851E}"/>
              </a:ext>
            </a:extLst>
          </p:cNvPr>
          <p:cNvSpPr txBox="1"/>
          <p:nvPr/>
        </p:nvSpPr>
        <p:spPr>
          <a:xfrm>
            <a:off x="6190487" y="4693880"/>
            <a:ext cx="227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인지기능저하 여부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74D6C9-AF1B-C284-3E2B-1F9DC59487F0}"/>
              </a:ext>
            </a:extLst>
          </p:cNvPr>
          <p:cNvSpPr txBox="1"/>
          <p:nvPr/>
        </p:nvSpPr>
        <p:spPr>
          <a:xfrm>
            <a:off x="871689" y="2748981"/>
            <a:ext cx="227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연구설계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C247AB-E3A9-ABDE-B520-DB26D679A938}"/>
              </a:ext>
            </a:extLst>
          </p:cNvPr>
          <p:cNvSpPr txBox="1"/>
          <p:nvPr/>
        </p:nvSpPr>
        <p:spPr>
          <a:xfrm>
            <a:off x="9118600" y="2748898"/>
            <a:ext cx="2271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변수 구성</a:t>
            </a: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7D969319-0045-C585-F6C2-434F1E1995F6}"/>
              </a:ext>
            </a:extLst>
          </p:cNvPr>
          <p:cNvSpPr txBox="1"/>
          <p:nvPr/>
        </p:nvSpPr>
        <p:spPr>
          <a:xfrm>
            <a:off x="9390887" y="7127151"/>
            <a:ext cx="7619999" cy="818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ko-KR" altLang="en-US" sz="2200" spc="-42" dirty="0">
                <a:latin typeface="Nanum Square"/>
                <a:ea typeface="Nanum Square"/>
                <a:cs typeface="Nanum Square"/>
                <a:sym typeface="Nanum Square"/>
              </a:rPr>
              <a:t>예측변수　중　</a:t>
            </a:r>
            <a:r>
              <a:rPr lang="ko-KR" altLang="en-US" sz="2200" spc="-42" dirty="0" err="1">
                <a:latin typeface="Nanum Square"/>
                <a:ea typeface="Nanum Square"/>
                <a:cs typeface="Nanum Square"/>
                <a:sym typeface="Nanum Square"/>
              </a:rPr>
              <a:t>문화여가활동의</a:t>
            </a:r>
            <a:r>
              <a:rPr lang="ko-KR" altLang="en-US" sz="2200" spc="-42" dirty="0">
                <a:latin typeface="Nanum Square"/>
                <a:ea typeface="Nanum Square"/>
                <a:cs typeface="Nanum Square"/>
                <a:sym typeface="Nanum Square"/>
              </a:rPr>
              <a:t>　상대적　기여도가　</a:t>
            </a:r>
            <a:endParaRPr lang="en-US" altLang="ko-KR" sz="2200" spc="-42" dirty="0">
              <a:latin typeface="Nanum Square"/>
              <a:ea typeface="Nanum Square"/>
              <a:cs typeface="Nanum Square"/>
              <a:sym typeface="Nanum Square"/>
            </a:endParaRPr>
          </a:p>
          <a:p>
            <a:pPr algn="ctr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본　연구의　핵심　분석　대상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8AC3-2BB3-874A-B1BA-615F16FE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10A2B74A-A0D6-8413-069C-D34D36B596C0}"/>
              </a:ext>
            </a:extLst>
          </p:cNvPr>
          <p:cNvSpPr/>
          <p:nvPr/>
        </p:nvSpPr>
        <p:spPr>
          <a:xfrm flipV="1">
            <a:off x="1287606" y="24003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D9A7509-1A70-9BE7-B9B0-46452FA9D5E3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354D05D-4737-8806-A083-9BD2B11BFF60}"/>
              </a:ext>
            </a:extLst>
          </p:cNvPr>
          <p:cNvSpPr/>
          <p:nvPr/>
        </p:nvSpPr>
        <p:spPr>
          <a:xfrm>
            <a:off x="17159484" y="19769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31E535-3A6C-EAC5-3D56-EC7A368C77DF}"/>
              </a:ext>
            </a:extLst>
          </p:cNvPr>
          <p:cNvSpPr txBox="1"/>
          <p:nvPr/>
        </p:nvSpPr>
        <p:spPr>
          <a:xfrm>
            <a:off x="9047496" y="5316737"/>
            <a:ext cx="150607" cy="43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085"/>
              </a:lnSpc>
            </a:pPr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B13ED4-652E-5C90-6B33-810458611AA5}"/>
              </a:ext>
            </a:extLst>
          </p:cNvPr>
          <p:cNvSpPr txBox="1"/>
          <p:nvPr/>
        </p:nvSpPr>
        <p:spPr>
          <a:xfrm>
            <a:off x="1287606" y="2872086"/>
            <a:ext cx="565961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모델 비교 및 검증 절차</a:t>
            </a:r>
            <a:endParaRPr lang="en-US" sz="28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2420856-B19F-E8F5-E1F2-2E4DAF18825E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분석 절차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DC921F0-0BF2-40BF-088B-90C58490DB71}"/>
              </a:ext>
            </a:extLst>
          </p:cNvPr>
          <p:cNvSpPr txBox="1"/>
          <p:nvPr/>
        </p:nvSpPr>
        <p:spPr>
          <a:xfrm>
            <a:off x="9906000" y="2888530"/>
            <a:ext cx="523082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강건성 검정 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5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가지</a:t>
            </a:r>
            <a:endParaRPr lang="en-US" sz="28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E7CC5C1-E1C1-E253-62A9-630780079A44}"/>
              </a:ext>
            </a:extLst>
          </p:cNvPr>
          <p:cNvGrpSpPr/>
          <p:nvPr/>
        </p:nvGrpSpPr>
        <p:grpSpPr>
          <a:xfrm>
            <a:off x="914400" y="5870061"/>
            <a:ext cx="7974515" cy="873639"/>
            <a:chOff x="609600" y="4341025"/>
            <a:chExt cx="7974515" cy="873639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C5AB889A-C4BF-E4A9-D2A4-D7F587A3DC67}"/>
                </a:ext>
              </a:extLst>
            </p:cNvPr>
            <p:cNvSpPr/>
            <p:nvPr/>
          </p:nvSpPr>
          <p:spPr>
            <a:xfrm>
              <a:off x="609600" y="4341025"/>
              <a:ext cx="7974515" cy="873633"/>
            </a:xfrm>
            <a:custGeom>
              <a:avLst/>
              <a:gdLst/>
              <a:ahLst/>
              <a:cxnLst/>
              <a:rect l="l" t="t" r="r" b="b"/>
              <a:pathLst>
                <a:path w="2923599" h="134916">
                  <a:moveTo>
                    <a:pt x="0" y="0"/>
                  </a:moveTo>
                  <a:lnTo>
                    <a:pt x="2923599" y="0"/>
                  </a:lnTo>
                  <a:lnTo>
                    <a:pt x="2923599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C1FFD9C-9FAE-6B6B-1547-A0AA78ED4F37}"/>
                </a:ext>
              </a:extLst>
            </p:cNvPr>
            <p:cNvSpPr/>
            <p:nvPr/>
          </p:nvSpPr>
          <p:spPr>
            <a:xfrm>
              <a:off x="609600" y="4341026"/>
              <a:ext cx="786825" cy="873638"/>
            </a:xfrm>
            <a:custGeom>
              <a:avLst/>
              <a:gdLst/>
              <a:ahLst/>
              <a:cxnLst/>
              <a:rect l="l" t="t" r="r" b="b"/>
              <a:pathLst>
                <a:path w="134916" h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42">
              <a:extLst>
                <a:ext uri="{FF2B5EF4-FFF2-40B4-BE49-F238E27FC236}">
                  <a16:creationId xmlns:a16="http://schemas.microsoft.com/office/drawing/2014/main" id="{797CFAAF-9B11-7A3A-AAD5-83B1793FCDFF}"/>
                </a:ext>
              </a:extLst>
            </p:cNvPr>
            <p:cNvSpPr txBox="1"/>
            <p:nvPr/>
          </p:nvSpPr>
          <p:spPr>
            <a:xfrm>
              <a:off x="1626284" y="4560929"/>
              <a:ext cx="6374716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40"/>
                </a:lnSpc>
              </a:pPr>
              <a:r>
                <a:rPr lang="en-US" altLang="ko-KR" sz="25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80 : 20 </a:t>
              </a:r>
              <a:r>
                <a:rPr lang="ko-KR" altLang="en-US" sz="25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층화 분할 </a:t>
              </a:r>
              <a:r>
                <a:rPr lang="ko-KR" altLang="en-US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훈련 </a:t>
              </a:r>
              <a:r>
                <a:rPr lang="en-US" altLang="ko-KR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80% </a:t>
              </a:r>
              <a:r>
                <a:rPr lang="ko-KR" altLang="en-US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검증 </a:t>
              </a:r>
              <a:r>
                <a:rPr lang="en-US" altLang="ko-KR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20%</a:t>
              </a:r>
              <a:endParaRPr lang="en-US" sz="2500" spc="-40" dirty="0">
                <a:solidFill>
                  <a:schemeClr val="bg1">
                    <a:lumMod val="6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6" name="TextBox 43">
              <a:extLst>
                <a:ext uri="{FF2B5EF4-FFF2-40B4-BE49-F238E27FC236}">
                  <a16:creationId xmlns:a16="http://schemas.microsoft.com/office/drawing/2014/main" id="{6500E888-6A44-3060-2880-0242EC10704A}"/>
                </a:ext>
              </a:extLst>
            </p:cNvPr>
            <p:cNvSpPr txBox="1"/>
            <p:nvPr/>
          </p:nvSpPr>
          <p:spPr>
            <a:xfrm>
              <a:off x="625410" y="4540618"/>
              <a:ext cx="765465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1D59C46-495B-D083-8025-A928BAB29D98}"/>
              </a:ext>
            </a:extLst>
          </p:cNvPr>
          <p:cNvGrpSpPr/>
          <p:nvPr/>
        </p:nvGrpSpPr>
        <p:grpSpPr>
          <a:xfrm>
            <a:off x="917518" y="7013068"/>
            <a:ext cx="8359853" cy="873632"/>
            <a:chOff x="612718" y="5628192"/>
            <a:chExt cx="8359853" cy="873632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9B5080FD-F5FE-78D9-D3A4-F69D54EBF2E4}"/>
                </a:ext>
              </a:extLst>
            </p:cNvPr>
            <p:cNvSpPr/>
            <p:nvPr/>
          </p:nvSpPr>
          <p:spPr>
            <a:xfrm>
              <a:off x="613623" y="5628192"/>
              <a:ext cx="8208342" cy="873632"/>
            </a:xfrm>
            <a:custGeom>
              <a:avLst/>
              <a:gdLst/>
              <a:ahLst/>
              <a:cxnLst/>
              <a:rect l="l" t="t" r="r" b="b"/>
              <a:pathLst>
                <a:path w="2923599" h="134916">
                  <a:moveTo>
                    <a:pt x="0" y="0"/>
                  </a:moveTo>
                  <a:lnTo>
                    <a:pt x="2923599" y="0"/>
                  </a:lnTo>
                  <a:lnTo>
                    <a:pt x="2923599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1"/>
              </a:solidFill>
              <a:prstDash val="solid"/>
              <a:miter/>
            </a:ln>
          </p:spPr>
        </p: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B11F3FB6-790D-34F6-62A5-D139ABA292AF}"/>
                </a:ext>
              </a:extLst>
            </p:cNvPr>
            <p:cNvGrpSpPr/>
            <p:nvPr/>
          </p:nvGrpSpPr>
          <p:grpSpPr>
            <a:xfrm>
              <a:off x="613622" y="5628192"/>
              <a:ext cx="808186" cy="873632"/>
              <a:chOff x="0" y="0"/>
              <a:chExt cx="134916" cy="134916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0CED2D20-E926-4FD6-59C2-1822466CF06A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865A6B88-97AB-66F7-691F-BAD3343A78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25" name="TextBox 44">
              <a:extLst>
                <a:ext uri="{FF2B5EF4-FFF2-40B4-BE49-F238E27FC236}">
                  <a16:creationId xmlns:a16="http://schemas.microsoft.com/office/drawing/2014/main" id="{B723B137-2657-520A-B126-EA0B7E305175}"/>
                </a:ext>
              </a:extLst>
            </p:cNvPr>
            <p:cNvSpPr txBox="1"/>
            <p:nvPr/>
          </p:nvSpPr>
          <p:spPr>
            <a:xfrm>
              <a:off x="1630885" y="5859997"/>
              <a:ext cx="7341686" cy="3875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altLang="ko-KR" sz="2500" spc="-40" dirty="0">
                  <a:latin typeface="Nanum Square"/>
                  <a:ea typeface="Nanum Square"/>
                  <a:cs typeface="Nanum Square"/>
                  <a:sym typeface="Nanum Square"/>
                </a:rPr>
                <a:t>5-fold </a:t>
              </a:r>
              <a:r>
                <a:rPr lang="ko-KR" altLang="en-US" sz="2500" spc="-40" dirty="0" err="1">
                  <a:latin typeface="Nanum Square"/>
                  <a:ea typeface="Nanum Square"/>
                  <a:cs typeface="Nanum Square"/>
                  <a:sym typeface="Nanum Square"/>
                </a:rPr>
                <a:t>층화교차검증</a:t>
              </a:r>
              <a:r>
                <a:rPr lang="ko-KR" altLang="en-US" sz="2500" spc="-40" dirty="0"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ko-KR" altLang="en-US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특정 분할에 따른 우연적 결과 배제</a:t>
              </a:r>
              <a:endParaRPr lang="en-US" sz="2500" spc="-40" dirty="0">
                <a:solidFill>
                  <a:schemeClr val="bg1">
                    <a:lumMod val="6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26" name="TextBox 45">
              <a:extLst>
                <a:ext uri="{FF2B5EF4-FFF2-40B4-BE49-F238E27FC236}">
                  <a16:creationId xmlns:a16="http://schemas.microsoft.com/office/drawing/2014/main" id="{5AB3D552-FE02-74FF-7F1E-1D43FC550C32}"/>
                </a:ext>
              </a:extLst>
            </p:cNvPr>
            <p:cNvSpPr txBox="1"/>
            <p:nvPr/>
          </p:nvSpPr>
          <p:spPr>
            <a:xfrm>
              <a:off x="612718" y="5860577"/>
              <a:ext cx="786825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9CD0443-7283-3D78-B669-33CD4D267036}"/>
              </a:ext>
            </a:extLst>
          </p:cNvPr>
          <p:cNvGrpSpPr/>
          <p:nvPr/>
        </p:nvGrpSpPr>
        <p:grpSpPr>
          <a:xfrm>
            <a:off x="917518" y="8161112"/>
            <a:ext cx="8434778" cy="868588"/>
            <a:chOff x="612718" y="6894011"/>
            <a:chExt cx="8434778" cy="868588"/>
          </a:xfrm>
        </p:grpSpPr>
        <p:grpSp>
          <p:nvGrpSpPr>
            <p:cNvPr id="34" name="Group 14">
              <a:extLst>
                <a:ext uri="{FF2B5EF4-FFF2-40B4-BE49-F238E27FC236}">
                  <a16:creationId xmlns:a16="http://schemas.microsoft.com/office/drawing/2014/main" id="{F96B9CCF-BCE2-8C72-B752-2B7E75F39546}"/>
                </a:ext>
              </a:extLst>
            </p:cNvPr>
            <p:cNvGrpSpPr/>
            <p:nvPr/>
          </p:nvGrpSpPr>
          <p:grpSpPr>
            <a:xfrm>
              <a:off x="613622" y="6894011"/>
              <a:ext cx="8358949" cy="868588"/>
              <a:chOff x="0" y="0"/>
              <a:chExt cx="2923599" cy="134916"/>
            </a:xfrm>
          </p:grpSpPr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7CC5E6E1-2621-52AB-BA41-BC1863174828}"/>
                  </a:ext>
                </a:extLst>
              </p:cNvPr>
              <p:cNvSpPr/>
              <p:nvPr/>
            </p:nvSpPr>
            <p:spPr>
              <a:xfrm>
                <a:off x="0" y="0"/>
                <a:ext cx="2923599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2923599" h="134916">
                    <a:moveTo>
                      <a:pt x="0" y="0"/>
                    </a:moveTo>
                    <a:lnTo>
                      <a:pt x="2923599" y="0"/>
                    </a:lnTo>
                    <a:lnTo>
                      <a:pt x="2923599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41" name="TextBox 16">
                <a:extLst>
                  <a:ext uri="{FF2B5EF4-FFF2-40B4-BE49-F238E27FC236}">
                    <a16:creationId xmlns:a16="http://schemas.microsoft.com/office/drawing/2014/main" id="{02C36F08-2E42-FE06-AAA2-C7099DBBFD9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23599" cy="17301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grpSp>
          <p:nvGrpSpPr>
            <p:cNvPr id="35" name="Group 17">
              <a:extLst>
                <a:ext uri="{FF2B5EF4-FFF2-40B4-BE49-F238E27FC236}">
                  <a16:creationId xmlns:a16="http://schemas.microsoft.com/office/drawing/2014/main" id="{0A718CA8-A493-042E-593E-5408B951664A}"/>
                </a:ext>
              </a:extLst>
            </p:cNvPr>
            <p:cNvGrpSpPr/>
            <p:nvPr/>
          </p:nvGrpSpPr>
          <p:grpSpPr>
            <a:xfrm>
              <a:off x="613622" y="6894011"/>
              <a:ext cx="828559" cy="868588"/>
              <a:chOff x="0" y="0"/>
              <a:chExt cx="134916" cy="134916"/>
            </a:xfrm>
          </p:grpSpPr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C421D9B8-32F6-4FCD-6E15-63958E4824A8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solidFill>
                  <a:schemeClr val="bg1"/>
                </a:solidFill>
              </a:ln>
            </p:spPr>
          </p:sp>
          <p:sp>
            <p:nvSpPr>
              <p:cNvPr id="39" name="TextBox 19">
                <a:extLst>
                  <a:ext uri="{FF2B5EF4-FFF2-40B4-BE49-F238E27FC236}">
                    <a16:creationId xmlns:a16="http://schemas.microsoft.com/office/drawing/2014/main" id="{F9F29EC5-AC32-286A-CC34-6F80663E18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36" name="TextBox 46">
              <a:extLst>
                <a:ext uri="{FF2B5EF4-FFF2-40B4-BE49-F238E27FC236}">
                  <a16:creationId xmlns:a16="http://schemas.microsoft.com/office/drawing/2014/main" id="{FD2D9FB1-CF05-86DF-75F0-957AFBB55F61}"/>
                </a:ext>
              </a:extLst>
            </p:cNvPr>
            <p:cNvSpPr txBox="1"/>
            <p:nvPr/>
          </p:nvSpPr>
          <p:spPr>
            <a:xfrm>
              <a:off x="1650893" y="7106474"/>
              <a:ext cx="7396603" cy="38696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altLang="ko-KR" sz="25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DeLong’s test </a:t>
              </a:r>
              <a:r>
                <a:rPr lang="ko-KR" altLang="en-US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모델 간 </a:t>
              </a:r>
              <a:r>
                <a:rPr lang="en-US" altLang="ko-KR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AUC </a:t>
              </a:r>
              <a:r>
                <a:rPr lang="ko-KR" altLang="en-US" sz="2500" spc="-40" dirty="0">
                  <a:solidFill>
                    <a:schemeClr val="bg1">
                      <a:lumMod val="65000"/>
                    </a:schemeClr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차이의 통계적 유의성 검정</a:t>
              </a:r>
              <a:endParaRPr lang="en-US" sz="2500" spc="-40" dirty="0">
                <a:solidFill>
                  <a:schemeClr val="bg1">
                    <a:lumMod val="6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37" name="TextBox 47">
              <a:extLst>
                <a:ext uri="{FF2B5EF4-FFF2-40B4-BE49-F238E27FC236}">
                  <a16:creationId xmlns:a16="http://schemas.microsoft.com/office/drawing/2014/main" id="{B0CCBB7E-9A6B-B10F-A820-1631E990D97E}"/>
                </a:ext>
              </a:extLst>
            </p:cNvPr>
            <p:cNvSpPr txBox="1"/>
            <p:nvPr/>
          </p:nvSpPr>
          <p:spPr>
            <a:xfrm>
              <a:off x="612718" y="7107006"/>
              <a:ext cx="807240" cy="38696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3</a:t>
              </a:r>
            </a:p>
          </p:txBody>
        </p:sp>
      </p:grp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8CACB2FF-8ECB-78EF-7F48-182A1D1AB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82284"/>
              </p:ext>
            </p:extLst>
          </p:nvPr>
        </p:nvGraphicFramePr>
        <p:xfrm>
          <a:off x="9712354" y="3440557"/>
          <a:ext cx="7447130" cy="5097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7130">
                  <a:extLst>
                    <a:ext uri="{9D8B030D-6E8A-4147-A177-3AD203B41FA5}">
                      <a16:colId xmlns:a16="http://schemas.microsoft.com/office/drawing/2014/main" val="189415988"/>
                    </a:ext>
                  </a:extLst>
                </a:gridCol>
              </a:tblGrid>
              <a:tr h="1019430">
                <a:tc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</a:pPr>
                      <a:r>
                        <a:rPr lang="en-US" altLang="ko-KR" sz="2200" dirty="0"/>
                        <a:t>① </a:t>
                      </a:r>
                      <a:r>
                        <a:rPr lang="ko-KR" altLang="en-US" sz="2200" dirty="0" err="1"/>
                        <a:t>하이퍼파라미터</a:t>
                      </a:r>
                      <a:r>
                        <a:rPr lang="ko-KR" altLang="en-US" sz="2200" dirty="0"/>
                        <a:t> 튜닝 </a:t>
                      </a:r>
                      <a:r>
                        <a:rPr lang="en-US" altLang="ko-KR" sz="2200" dirty="0"/>
                        <a:t>– </a:t>
                      </a:r>
                      <a:r>
                        <a:rPr lang="en-US" altLang="ko-KR" sz="2200" dirty="0" err="1"/>
                        <a:t>RandomizedSearchCV</a:t>
                      </a:r>
                      <a:r>
                        <a:rPr lang="en-US" altLang="ko-KR" sz="2200" dirty="0"/>
                        <a:t> (50</a:t>
                      </a:r>
                      <a:r>
                        <a:rPr lang="ko-KR" altLang="en-US" sz="2200" dirty="0"/>
                        <a:t>회</a:t>
                      </a:r>
                      <a:r>
                        <a:rPr lang="en-US" altLang="ko-KR" sz="2200" dirty="0"/>
                        <a:t>)</a:t>
                      </a:r>
                      <a:endParaRPr lang="ko-KR" altLang="en-US" sz="2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186403"/>
                  </a:ext>
                </a:extLst>
              </a:tr>
              <a:tr h="1019430">
                <a:tc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</a:pPr>
                      <a:r>
                        <a:rPr lang="en-US" altLang="ko-KR" sz="2200" dirty="0"/>
                        <a:t>② </a:t>
                      </a:r>
                      <a:r>
                        <a:rPr lang="ko-KR" altLang="en-US" sz="2200" dirty="0"/>
                        <a:t>조사가중치 반영 </a:t>
                      </a:r>
                      <a:r>
                        <a:rPr lang="en-US" altLang="ko-KR" sz="2200" dirty="0"/>
                        <a:t>– </a:t>
                      </a:r>
                      <a:r>
                        <a:rPr lang="en-US" altLang="ko-KR" sz="2200" dirty="0" err="1"/>
                        <a:t>KLoSA</a:t>
                      </a:r>
                      <a:r>
                        <a:rPr lang="en-US" altLang="ko-KR" sz="2200" dirty="0"/>
                        <a:t> 9</a:t>
                      </a:r>
                      <a:r>
                        <a:rPr lang="ko-KR" altLang="en-US" sz="2200" dirty="0"/>
                        <a:t>차 종단 가중치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335356"/>
                  </a:ext>
                </a:extLst>
              </a:tr>
              <a:tr h="1019430">
                <a:tc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</a:pPr>
                      <a:r>
                        <a:rPr lang="en-US" altLang="ko-KR" sz="2200" dirty="0"/>
                        <a:t>③ MMSE</a:t>
                      </a:r>
                      <a:r>
                        <a:rPr lang="ko-KR" altLang="en-US" sz="2200" dirty="0"/>
                        <a:t> </a:t>
                      </a:r>
                      <a:r>
                        <a:rPr lang="ko-KR" altLang="en-US" sz="2200" dirty="0" err="1"/>
                        <a:t>절단점</a:t>
                      </a:r>
                      <a:r>
                        <a:rPr lang="ko-KR" altLang="en-US" sz="2200" dirty="0"/>
                        <a:t> 민감도 분석 </a:t>
                      </a:r>
                      <a:r>
                        <a:rPr lang="en-US" altLang="ko-KR" sz="2200" dirty="0"/>
                        <a:t>– 20~25</a:t>
                      </a:r>
                      <a:r>
                        <a:rPr lang="ko-KR" altLang="en-US" sz="2200" dirty="0"/>
                        <a:t>점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443170"/>
                  </a:ext>
                </a:extLst>
              </a:tr>
              <a:tr h="1019430">
                <a:tc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</a:pPr>
                      <a:r>
                        <a:rPr lang="en-US" altLang="ko-KR" sz="2200" dirty="0"/>
                        <a:t>④ </a:t>
                      </a:r>
                      <a:r>
                        <a:rPr lang="ko-KR" altLang="en-US" sz="2200" dirty="0" err="1"/>
                        <a:t>다중공선성</a:t>
                      </a:r>
                      <a:r>
                        <a:rPr lang="ko-KR" altLang="en-US" sz="2200" dirty="0"/>
                        <a:t> </a:t>
                      </a:r>
                      <a:r>
                        <a:rPr lang="en-US" altLang="ko-KR" sz="2200" dirty="0"/>
                        <a:t>(VIF) </a:t>
                      </a:r>
                      <a:r>
                        <a:rPr lang="ko-KR" altLang="en-US" sz="2200" dirty="0"/>
                        <a:t>진단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023949"/>
                  </a:ext>
                </a:extLst>
              </a:tr>
              <a:tr h="1019430">
                <a:tc>
                  <a:txBody>
                    <a:bodyPr/>
                    <a:lstStyle/>
                    <a:p>
                      <a:pPr latinLnBrk="1">
                        <a:lnSpc>
                          <a:spcPct val="250000"/>
                        </a:lnSpc>
                      </a:pPr>
                      <a:r>
                        <a:rPr lang="en-US" altLang="ko-KR" sz="2200" dirty="0"/>
                        <a:t>⑤ </a:t>
                      </a:r>
                      <a:r>
                        <a:rPr lang="ko-KR" altLang="en-US" sz="2200" dirty="0"/>
                        <a:t>변수 조작화 방식 변경 </a:t>
                      </a:r>
                      <a:r>
                        <a:rPr lang="en-US" altLang="ko-KR" sz="2200" dirty="0"/>
                        <a:t>– </a:t>
                      </a:r>
                      <a:r>
                        <a:rPr lang="ko-KR" altLang="en-US" sz="2200" dirty="0"/>
                        <a:t>연속형 </a:t>
                      </a:r>
                      <a:r>
                        <a:rPr lang="en-US" altLang="ko-KR" sz="2200" dirty="0"/>
                        <a:t>-&gt; </a:t>
                      </a:r>
                      <a:r>
                        <a:rPr lang="ko-KR" altLang="en-US" sz="2200" dirty="0"/>
                        <a:t>이분형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435049"/>
                  </a:ext>
                </a:extLst>
              </a:tr>
            </a:tbl>
          </a:graphicData>
        </a:graphic>
      </p:graphicFrame>
      <p:sp>
        <p:nvSpPr>
          <p:cNvPr id="47" name="TextBox 16">
            <a:extLst>
              <a:ext uri="{FF2B5EF4-FFF2-40B4-BE49-F238E27FC236}">
                <a16:creationId xmlns:a16="http://schemas.microsoft.com/office/drawing/2014/main" id="{9B7EBD95-AEE6-90CC-5684-70E90116EDDF}"/>
              </a:ext>
            </a:extLst>
          </p:cNvPr>
          <p:cNvSpPr txBox="1"/>
          <p:nvPr/>
        </p:nvSpPr>
        <p:spPr>
          <a:xfrm>
            <a:off x="1287606" y="3467100"/>
            <a:ext cx="7288041" cy="2081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로지스틱회귀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vs Random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Forest vs </a:t>
            </a:r>
            <a:r>
              <a:rPr lang="en-US" altLang="ko-KR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XGBoost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3297"/>
              </a:lnSpc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>
              <a:lnSpc>
                <a:spcPts val="3297"/>
              </a:lnSpc>
            </a:pPr>
            <a:r>
              <a:rPr lang="ko-KR" altLang="en-US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배깅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(RF)</a:t>
            </a:r>
            <a:r>
              <a:rPr lang="en-US" altLang="ko-KR" sz="2000" b="1" i="1" spc="-31" dirty="0">
                <a:solidFill>
                  <a:schemeClr val="bg1">
                    <a:lumMod val="75000"/>
                  </a:schemeClr>
                </a:solidFill>
                <a:sym typeface="Nanum Square"/>
              </a:rPr>
              <a:t> ·</a:t>
            </a:r>
            <a:r>
              <a:rPr lang="ko-KR" altLang="en-US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부스팅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(</a:t>
            </a:r>
            <a:r>
              <a:rPr lang="en-US" altLang="ko-KR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XGBoost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)</a:t>
            </a:r>
            <a:r>
              <a:rPr lang="ko-KR" altLang="en-US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  계열 비교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en-US" altLang="ko-KR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XGBoost</a:t>
            </a:r>
            <a:r>
              <a:rPr lang="ko-KR" altLang="en-US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는 선행연구와의 비교가능성 확보 목적 </a:t>
            </a:r>
            <a:r>
              <a:rPr lang="en-US" altLang="ko-KR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SM</a:t>
            </a:r>
            <a:r>
              <a:rPr lang="en-US" altLang="ko-KR" sz="2000" b="1" i="1" spc="-31" dirty="0" err="1">
                <a:solidFill>
                  <a:schemeClr val="bg1">
                    <a:lumMod val="75000"/>
                  </a:schemeClr>
                </a:solidFill>
                <a:sym typeface="Nanum Square"/>
              </a:rPr>
              <a:t>·</a:t>
            </a:r>
            <a:r>
              <a:rPr lang="en-US" altLang="ko-KR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LightGBM</a:t>
            </a:r>
            <a:r>
              <a:rPr lang="en-US" altLang="ko-KR" sz="2000" b="1" i="1" spc="-31" dirty="0" err="1">
                <a:solidFill>
                  <a:schemeClr val="bg1">
                    <a:lumMod val="75000"/>
                  </a:schemeClr>
                </a:solidFill>
                <a:sym typeface="Nanum Square"/>
              </a:rPr>
              <a:t>·</a:t>
            </a:r>
            <a:r>
              <a:rPr lang="en-US" altLang="ko-KR" sz="2000" b="1" i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MLP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ko-KR" altLang="en-US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등도 적합했으나 유의한 개선이 없어 </a:t>
            </a:r>
            <a:r>
              <a:rPr lang="en-US" altLang="ko-KR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3</a:t>
            </a:r>
            <a:r>
              <a:rPr lang="ko-KR" altLang="en-US" sz="2000" b="1" i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개 모델로 보고 </a:t>
            </a:r>
            <a:endParaRPr lang="en-US" sz="2000" b="1" i="1" spc="-42" dirty="0">
              <a:solidFill>
                <a:schemeClr val="bg1">
                  <a:lumMod val="75000"/>
                </a:schemeClr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309643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5971-AD55-D238-215B-07CA46A0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FC424003-FFC3-C234-05BA-EBBCDBA939EC}"/>
              </a:ext>
            </a:extLst>
          </p:cNvPr>
          <p:cNvSpPr/>
          <p:nvPr/>
        </p:nvSpPr>
        <p:spPr>
          <a:xfrm flipV="1">
            <a:off x="1255514" y="24384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6384466-38D0-0110-0F00-A87A14B3C333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3B39F3-4F3D-B2C9-EF80-4F7D47E7D6BC}"/>
              </a:ext>
            </a:extLst>
          </p:cNvPr>
          <p:cNvSpPr/>
          <p:nvPr/>
        </p:nvSpPr>
        <p:spPr>
          <a:xfrm>
            <a:off x="17161933" y="198906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2C7CDF-CAC7-AD2C-10AE-ACE985523B79}"/>
              </a:ext>
            </a:extLst>
          </p:cNvPr>
          <p:cNvSpPr txBox="1"/>
          <p:nvPr/>
        </p:nvSpPr>
        <p:spPr>
          <a:xfrm>
            <a:off x="1233503" y="1148072"/>
            <a:ext cx="7228679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예측 모델 성능 비교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A35E9A7F-6EAB-85C2-FE1C-9768D2D2E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356027"/>
              </p:ext>
            </p:extLst>
          </p:nvPr>
        </p:nvGraphicFramePr>
        <p:xfrm>
          <a:off x="1233503" y="3150075"/>
          <a:ext cx="7970522" cy="3265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3722">
                  <a:extLst>
                    <a:ext uri="{9D8B030D-6E8A-4147-A177-3AD203B41FA5}">
                      <a16:colId xmlns:a16="http://schemas.microsoft.com/office/drawing/2014/main" val="404776492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43531959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8141688"/>
                    </a:ext>
                  </a:extLst>
                </a:gridCol>
              </a:tblGrid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모델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b="1" dirty="0"/>
                        <a:t>AUC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b="1" dirty="0"/>
                        <a:t>DeLong’s p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063023"/>
                  </a:ext>
                </a:extLst>
              </a:tr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/>
                        <a:t>로지스틱 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베이스라인</a:t>
                      </a:r>
                      <a:r>
                        <a:rPr lang="en-US" altLang="ko-KR" sz="2000" b="1" dirty="0"/>
                        <a:t>)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0.841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900" b="0" dirty="0"/>
                        <a:t>기준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338644"/>
                  </a:ext>
                </a:extLst>
              </a:tr>
              <a:tr h="8335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b="1" dirty="0" err="1"/>
                        <a:t>랜덤포레스트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0.855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p = 0.002 *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60191"/>
                  </a:ext>
                </a:extLst>
              </a:tr>
              <a:tr h="8106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b="1" dirty="0" err="1"/>
                        <a:t>XGBoost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0.854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900" b="0" dirty="0"/>
                        <a:t>p = 0.016 *</a:t>
                      </a:r>
                      <a:endParaRPr lang="ko-KR" altLang="en-US" sz="19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953148"/>
                  </a:ext>
                </a:extLst>
              </a:tr>
            </a:tbl>
          </a:graphicData>
        </a:graphic>
      </p:graphicFrame>
      <p:sp>
        <p:nvSpPr>
          <p:cNvPr id="49" name="TextBox 12">
            <a:extLst>
              <a:ext uri="{FF2B5EF4-FFF2-40B4-BE49-F238E27FC236}">
                <a16:creationId xmlns:a16="http://schemas.microsoft.com/office/drawing/2014/main" id="{E1C8C531-032C-AE99-E1FE-C922AF51185A}"/>
              </a:ext>
            </a:extLst>
          </p:cNvPr>
          <p:cNvSpPr txBox="1"/>
          <p:nvPr/>
        </p:nvSpPr>
        <p:spPr>
          <a:xfrm>
            <a:off x="1255514" y="7029914"/>
            <a:ext cx="7619999" cy="818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3297"/>
              </a:lnSpc>
              <a:buFont typeface="Wingdings" panose="05000000000000000000" pitchFamily="2" charset="2"/>
              <a:buChar char="è"/>
            </a:pPr>
            <a:r>
              <a:rPr lang="ko-KR" altLang="en-US" sz="2200" spc="-42" dirty="0">
                <a:latin typeface="Nanum Square"/>
                <a:ea typeface="Nanum Square"/>
                <a:cs typeface="Nanum Square"/>
                <a:sym typeface="Nanum Square"/>
              </a:rPr>
              <a:t>트리 기반 앙상블</a:t>
            </a:r>
            <a:r>
              <a:rPr lang="en-US" altLang="ko-KR" sz="2200" spc="-42" dirty="0">
                <a:latin typeface="Nanum Square"/>
                <a:ea typeface="Nanum Square"/>
                <a:cs typeface="Nanum Square"/>
                <a:sym typeface="Nanum Square"/>
              </a:rPr>
              <a:t>(</a:t>
            </a:r>
            <a:r>
              <a:rPr lang="en-US" altLang="ko-KR" sz="2200" spc="-42" dirty="0" err="1">
                <a:latin typeface="Nanum Square"/>
                <a:ea typeface="Nanum Square"/>
                <a:cs typeface="Nanum Square"/>
                <a:sym typeface="Nanum Square"/>
              </a:rPr>
              <a:t>RF</a:t>
            </a:r>
            <a:r>
              <a:rPr lang="en-US" altLang="ko-KR" sz="2400" spc="-31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en-US" altLang="ko-KR" sz="2200" spc="-42" dirty="0" err="1">
                <a:latin typeface="Nanum Square"/>
                <a:ea typeface="Nanum Square"/>
                <a:cs typeface="Nanum Square"/>
                <a:sym typeface="Nanum Square"/>
              </a:rPr>
              <a:t>XGBoost</a:t>
            </a:r>
            <a:r>
              <a:rPr lang="en-US" altLang="ko-KR" sz="2200" spc="-42" dirty="0">
                <a:latin typeface="Nanum Square"/>
                <a:ea typeface="Nanum Square"/>
                <a:cs typeface="Nanum Square"/>
                <a:sym typeface="Nanum Square"/>
              </a:rPr>
              <a:t>) </a:t>
            </a:r>
            <a:r>
              <a:rPr lang="ko-KR" altLang="en-US" sz="2200" spc="-42" dirty="0">
                <a:latin typeface="Nanum Square"/>
                <a:ea typeface="Nanum Square"/>
                <a:cs typeface="Nanum Square"/>
                <a:sym typeface="Nanum Square"/>
              </a:rPr>
              <a:t>이 로지스틱 회귀보다 </a:t>
            </a:r>
            <a:endParaRPr lang="en-US" altLang="ko-KR" sz="2200" spc="-42" dirty="0">
              <a:latin typeface="Nanum Square"/>
              <a:ea typeface="Nanum Square"/>
              <a:cs typeface="Nanum Square"/>
              <a:sym typeface="Nanum Square"/>
            </a:endParaRPr>
          </a:p>
          <a:p>
            <a:pPr algn="ctr">
              <a:lnSpc>
                <a:spcPts val="3297"/>
              </a:lnSpc>
            </a:pPr>
            <a:r>
              <a:rPr lang="ko-KR" altLang="en-US" sz="2200" spc="-42" dirty="0">
                <a:latin typeface="Nanum Square"/>
                <a:ea typeface="Nanum Square"/>
                <a:cs typeface="Nanum Square"/>
                <a:sym typeface="Nanum Square"/>
              </a:rPr>
              <a:t>통계적으로 유의하게 우수한 예측력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1ABDD0A2-CE83-BC63-0AC9-30FDC4A66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065218"/>
              </p:ext>
            </p:extLst>
          </p:nvPr>
        </p:nvGraphicFramePr>
        <p:xfrm>
          <a:off x="10134600" y="2459567"/>
          <a:ext cx="7840932" cy="6148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12">
            <a:extLst>
              <a:ext uri="{FF2B5EF4-FFF2-40B4-BE49-F238E27FC236}">
                <a16:creationId xmlns:a16="http://schemas.microsoft.com/office/drawing/2014/main" id="{05A5FCC2-B74E-DA95-94E6-3EE2E2706F39}"/>
              </a:ext>
            </a:extLst>
          </p:cNvPr>
          <p:cNvSpPr txBox="1"/>
          <p:nvPr/>
        </p:nvSpPr>
        <p:spPr>
          <a:xfrm>
            <a:off x="10896600" y="4738007"/>
            <a:ext cx="1524000" cy="388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altLang="ko-KR" b="1" spc="-42" dirty="0">
                <a:latin typeface="Nanum Square"/>
                <a:ea typeface="Nanum Square"/>
                <a:cs typeface="Nanum Square"/>
                <a:sym typeface="Nanum Square"/>
              </a:rPr>
              <a:t>0.841</a:t>
            </a:r>
            <a:endParaRPr lang="en-US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3A72751B-4075-BD89-F59E-908CBB63B168}"/>
              </a:ext>
            </a:extLst>
          </p:cNvPr>
          <p:cNvSpPr txBox="1"/>
          <p:nvPr/>
        </p:nvSpPr>
        <p:spPr>
          <a:xfrm>
            <a:off x="12386733" y="4242400"/>
            <a:ext cx="1524000" cy="388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altLang="ko-KR" b="1" spc="-42" dirty="0">
                <a:latin typeface="Nanum Square"/>
                <a:ea typeface="Nanum Square"/>
                <a:cs typeface="Nanum Square"/>
                <a:sym typeface="Nanum Square"/>
              </a:rPr>
              <a:t>0.855</a:t>
            </a:r>
            <a:endParaRPr lang="en-US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90D9469E-C877-C811-7222-151A6D32E3AA}"/>
              </a:ext>
            </a:extLst>
          </p:cNvPr>
          <p:cNvSpPr txBox="1"/>
          <p:nvPr/>
        </p:nvSpPr>
        <p:spPr>
          <a:xfrm>
            <a:off x="13876866" y="4318839"/>
            <a:ext cx="1524000" cy="388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altLang="ko-KR" b="1" spc="-42" dirty="0">
                <a:latin typeface="Nanum Square"/>
                <a:ea typeface="Nanum Square"/>
                <a:cs typeface="Nanum Square"/>
                <a:sym typeface="Nanum Square"/>
              </a:rPr>
              <a:t>0.854</a:t>
            </a:r>
            <a:endParaRPr lang="en-US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356255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4056-7F39-ED46-1E1F-545CB439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9E190545-A163-2CC4-168A-C508BF764953}"/>
              </a:ext>
            </a:extLst>
          </p:cNvPr>
          <p:cNvSpPr/>
          <p:nvPr/>
        </p:nvSpPr>
        <p:spPr>
          <a:xfrm flipV="1">
            <a:off x="1255514" y="24384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EC3581BF-5BE3-8123-DCAD-CF7C03659B0D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5551FCB-69AA-A5AC-56CE-842FF9FEE88C}"/>
              </a:ext>
            </a:extLst>
          </p:cNvPr>
          <p:cNvSpPr/>
          <p:nvPr/>
        </p:nvSpPr>
        <p:spPr>
          <a:xfrm>
            <a:off x="17161933" y="198906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D72ADF0-04F4-634A-7C75-24AFEDAF5F82}"/>
              </a:ext>
            </a:extLst>
          </p:cNvPr>
          <p:cNvSpPr txBox="1"/>
          <p:nvPr/>
        </p:nvSpPr>
        <p:spPr>
          <a:xfrm>
            <a:off x="1233503" y="1148072"/>
            <a:ext cx="7228679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변수중요도의 역설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7072DD5B-6478-81D7-8D15-4126A93CCA99}"/>
              </a:ext>
            </a:extLst>
          </p:cNvPr>
          <p:cNvSpPr txBox="1"/>
          <p:nvPr/>
        </p:nvSpPr>
        <p:spPr>
          <a:xfrm>
            <a:off x="898503" y="5156200"/>
            <a:ext cx="8125369" cy="2518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11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 예측변수 중 흡연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음주를 제외한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9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 변수가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p &lt; 0.001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수준에서 통계적으로 유의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연령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(OR = 1.825)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강한 위험요인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학력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(OR = 0.640)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강한 보호효과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흡연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(p = 0.637)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음주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(p = 0.204)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는 통계적으로 유의하지 않음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78B59878-A882-F7FA-C71E-F0BD6D1F19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415657"/>
              </p:ext>
            </p:extLst>
          </p:nvPr>
        </p:nvGraphicFramePr>
        <p:xfrm>
          <a:off x="8878902" y="3083022"/>
          <a:ext cx="7888486" cy="5366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2">
            <a:extLst>
              <a:ext uri="{FF2B5EF4-FFF2-40B4-BE49-F238E27FC236}">
                <a16:creationId xmlns:a16="http://schemas.microsoft.com/office/drawing/2014/main" id="{51E50A9E-7304-7A01-76EE-9488E170FC52}"/>
              </a:ext>
            </a:extLst>
          </p:cNvPr>
          <p:cNvSpPr txBox="1"/>
          <p:nvPr/>
        </p:nvSpPr>
        <p:spPr>
          <a:xfrm>
            <a:off x="9769498" y="8521388"/>
            <a:ext cx="7619999" cy="818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3297"/>
              </a:lnSpc>
              <a:buFont typeface="Wingdings" panose="05000000000000000000" pitchFamily="2" charset="2"/>
              <a:buChar char="è"/>
            </a:pPr>
            <a:r>
              <a:rPr lang="ko-KR" altLang="en-US" sz="20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문화여가활동은</a:t>
            </a:r>
            <a:r>
              <a:rPr lang="ko-KR" altLang="en-US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altLang="ko-KR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11</a:t>
            </a:r>
            <a:r>
              <a:rPr lang="ko-KR" altLang="en-US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 중 </a:t>
            </a:r>
            <a:r>
              <a:rPr lang="en-US" altLang="ko-KR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8</a:t>
            </a:r>
            <a:r>
              <a:rPr lang="ko-KR" altLang="en-US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위 </a:t>
            </a:r>
            <a:r>
              <a:rPr lang="en-US" altLang="ko-KR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</a:t>
            </a:r>
            <a:r>
              <a:rPr lang="ko-KR" altLang="en-US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중하위권</a:t>
            </a:r>
            <a:r>
              <a:rPr lang="en-US" altLang="ko-KR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) </a:t>
            </a:r>
          </a:p>
          <a:p>
            <a:pPr algn="ctr">
              <a:lnSpc>
                <a:spcPts val="3297"/>
              </a:lnSpc>
            </a:pPr>
            <a:r>
              <a:rPr lang="en-US" altLang="ko-KR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 </a:t>
            </a:r>
            <a:r>
              <a:rPr lang="ko-KR" altLang="en-US" sz="20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유의하지만 상대적 중요도는 낮다</a:t>
            </a:r>
            <a:endParaRPr lang="en-US" sz="20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C5015E10-C20C-B5A8-0BD2-5301AC5A745B}"/>
              </a:ext>
            </a:extLst>
          </p:cNvPr>
          <p:cNvSpPr txBox="1"/>
          <p:nvPr/>
        </p:nvSpPr>
        <p:spPr>
          <a:xfrm>
            <a:off x="-796210" y="3261112"/>
            <a:ext cx="11288104" cy="398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ko-KR" altLang="en-US" sz="2500" dirty="0" err="1">
                <a:sym typeface="Nanum Square"/>
              </a:rPr>
              <a:t>문화여가활동</a:t>
            </a:r>
            <a:r>
              <a:rPr lang="ko-KR" altLang="en-US" sz="2500" dirty="0">
                <a:sym typeface="Nanum Square"/>
              </a:rPr>
              <a:t> </a:t>
            </a:r>
            <a:r>
              <a:rPr lang="en-US" altLang="ko-KR" sz="2500" dirty="0">
                <a:sym typeface="Nanum Square"/>
              </a:rPr>
              <a:t>OR =0.763 (95% CI [0.664, 0.878], p &lt; 0.001)</a:t>
            </a:r>
            <a:endParaRPr lang="en-US" sz="2500" dirty="0">
              <a:sym typeface="Nanum Squar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4EA76-6554-5038-A4ED-571182FBD777}"/>
              </a:ext>
            </a:extLst>
          </p:cNvPr>
          <p:cNvSpPr txBox="1"/>
          <p:nvPr/>
        </p:nvSpPr>
        <p:spPr>
          <a:xfrm>
            <a:off x="11049000" y="364817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0.0214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78C56-9C20-B63A-7248-19D5F900FFEC}"/>
              </a:ext>
            </a:extLst>
          </p:cNvPr>
          <p:cNvSpPr txBox="1"/>
          <p:nvPr/>
        </p:nvSpPr>
        <p:spPr>
          <a:xfrm>
            <a:off x="12776200" y="49520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0.1043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508508-5258-023F-DF67-BE6643962C81}"/>
              </a:ext>
            </a:extLst>
          </p:cNvPr>
          <p:cNvSpPr txBox="1"/>
          <p:nvPr/>
        </p:nvSpPr>
        <p:spPr>
          <a:xfrm>
            <a:off x="15087600" y="62164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0.2169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2574C1-1C43-DE2F-DCFE-CF41A8720A22}"/>
              </a:ext>
            </a:extLst>
          </p:cNvPr>
          <p:cNvSpPr txBox="1"/>
          <p:nvPr/>
        </p:nvSpPr>
        <p:spPr>
          <a:xfrm>
            <a:off x="16551297" y="75173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0.2854</a:t>
            </a:r>
            <a:endParaRPr lang="ko-KR" altLang="en-US" b="1" dirty="0"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05F547CD-05D2-41CF-7254-D537E04FFA21}"/>
              </a:ext>
            </a:extLst>
          </p:cNvPr>
          <p:cNvSpPr txBox="1"/>
          <p:nvPr/>
        </p:nvSpPr>
        <p:spPr>
          <a:xfrm>
            <a:off x="9562072" y="2667582"/>
            <a:ext cx="7888486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RF 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변수중요도 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–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SHAP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기준으로도 동일한 순위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392761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A7B9-C0D1-4836-B266-44004935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2E9B508D-AB40-9F8C-1549-BC8BF7EFE07E}"/>
              </a:ext>
            </a:extLst>
          </p:cNvPr>
          <p:cNvSpPr/>
          <p:nvPr/>
        </p:nvSpPr>
        <p:spPr>
          <a:xfrm flipV="1">
            <a:off x="1324007" y="24384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20CB0F8-DDD8-50B5-40A4-EBF1074366EC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C6AEAF3-D027-8E16-20C6-DE78CB7415B3}"/>
              </a:ext>
            </a:extLst>
          </p:cNvPr>
          <p:cNvSpPr/>
          <p:nvPr/>
        </p:nvSpPr>
        <p:spPr>
          <a:xfrm>
            <a:off x="17145000" y="19896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C436848-280D-F841-9980-E93B13D36093}"/>
              </a:ext>
            </a:extLst>
          </p:cNvPr>
          <p:cNvSpPr txBox="1"/>
          <p:nvPr/>
        </p:nvSpPr>
        <p:spPr>
          <a:xfrm>
            <a:off x="1524000" y="8773061"/>
            <a:ext cx="12877800" cy="1474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-&gt; </a:t>
            </a: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문화여가활동의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낮은 상대적 기여도는 특정 분석적 선택에 따른 인위적 산물이 아님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ct val="150000"/>
              </a:lnSpc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è"/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0BC69F5-AE39-7DC0-6109-B47E4F9B3555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강건성 검정 요약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0F7B23DA-382B-784B-DA21-FE48EB9B2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969609"/>
              </p:ext>
            </p:extLst>
          </p:nvPr>
        </p:nvGraphicFramePr>
        <p:xfrm>
          <a:off x="1324008" y="2786283"/>
          <a:ext cx="15716186" cy="5638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2967">
                  <a:extLst>
                    <a:ext uri="{9D8B030D-6E8A-4147-A177-3AD203B41FA5}">
                      <a16:colId xmlns:a16="http://schemas.microsoft.com/office/drawing/2014/main" val="4047764923"/>
                    </a:ext>
                  </a:extLst>
                </a:gridCol>
                <a:gridCol w="7123692">
                  <a:extLst>
                    <a:ext uri="{9D8B030D-6E8A-4147-A177-3AD203B41FA5}">
                      <a16:colId xmlns:a16="http://schemas.microsoft.com/office/drawing/2014/main" val="1435319591"/>
                    </a:ext>
                  </a:extLst>
                </a:gridCol>
                <a:gridCol w="4259527">
                  <a:extLst>
                    <a:ext uri="{9D8B030D-6E8A-4147-A177-3AD203B41FA5}">
                      <a16:colId xmlns:a16="http://schemas.microsoft.com/office/drawing/2014/main" val="758852189"/>
                    </a:ext>
                  </a:extLst>
                </a:gridCol>
              </a:tblGrid>
              <a:tr h="93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강건성 검정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핵심 결과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063023"/>
                  </a:ext>
                </a:extLst>
              </a:tr>
              <a:tr h="93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1" dirty="0"/>
                        <a:t>① </a:t>
                      </a:r>
                      <a:r>
                        <a:rPr lang="ko-KR" altLang="ko-KR" sz="2000" b="1" dirty="0" err="1"/>
                        <a:t>하이퍼파라미터</a:t>
                      </a:r>
                      <a:r>
                        <a:rPr lang="ko-KR" altLang="ko-KR" sz="2000" b="1" dirty="0"/>
                        <a:t> 튜닝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0" dirty="0"/>
                        <a:t>RF </a:t>
                      </a:r>
                      <a:r>
                        <a:rPr lang="ko-KR" altLang="en-US" sz="2000" b="0" dirty="0"/>
                        <a:t>소폭</a:t>
                      </a:r>
                      <a:r>
                        <a:rPr lang="en-US" altLang="ko-KR" sz="2000" b="0" dirty="0"/>
                        <a:t>(0.002) </a:t>
                      </a:r>
                      <a:r>
                        <a:rPr lang="ko-KR" altLang="en-US" sz="2000" b="0" dirty="0"/>
                        <a:t>감소</a:t>
                      </a:r>
                      <a:r>
                        <a:rPr lang="en-US" altLang="ko-KR" sz="2000" b="0" dirty="0"/>
                        <a:t>, </a:t>
                      </a:r>
                      <a:r>
                        <a:rPr lang="en-US" altLang="ko-KR" sz="2000" b="0" dirty="0" err="1"/>
                        <a:t>XGBoost</a:t>
                      </a:r>
                      <a:r>
                        <a:rPr lang="en-US" altLang="ko-KR" sz="2000" b="0" dirty="0"/>
                        <a:t> </a:t>
                      </a:r>
                      <a:r>
                        <a:rPr lang="ko-KR" altLang="en-US" sz="2000" b="0" dirty="0"/>
                        <a:t>소폭</a:t>
                      </a:r>
                      <a:r>
                        <a:rPr lang="en-US" altLang="ko-KR" sz="2000" b="0" dirty="0"/>
                        <a:t>(0.002) </a:t>
                      </a:r>
                      <a:r>
                        <a:rPr lang="ko-KR" altLang="en-US" sz="2000" b="0" dirty="0"/>
                        <a:t>개선</a:t>
                      </a:r>
                      <a:r>
                        <a:rPr lang="en-US" altLang="ko-KR" sz="2000" b="0" dirty="0"/>
                        <a:t>, </a:t>
                      </a:r>
                      <a:r>
                        <a:rPr lang="ko-KR" altLang="en-US" sz="2000" b="0" dirty="0"/>
                        <a:t>우열이 안 바뀜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338644"/>
                  </a:ext>
                </a:extLst>
              </a:tr>
              <a:tr h="93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1" dirty="0"/>
                        <a:t>② </a:t>
                      </a:r>
                      <a:r>
                        <a:rPr lang="ko-KR" altLang="ko-KR" sz="2000" b="1" dirty="0"/>
                        <a:t>조사가중치 반영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0" dirty="0" err="1"/>
                        <a:t>문화여가활동</a:t>
                      </a:r>
                      <a:r>
                        <a:rPr lang="ko-KR" altLang="en-US" sz="2000" b="0" dirty="0"/>
                        <a:t> 계수</a:t>
                      </a:r>
                      <a:r>
                        <a:rPr lang="en-US" altLang="ko-KR" sz="2000" spc="-31" dirty="0">
                          <a:solidFill>
                            <a:srgbClr val="000000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·</a:t>
                      </a:r>
                      <a:r>
                        <a:rPr lang="en-US" altLang="ko-KR" sz="2000" b="0" dirty="0"/>
                        <a:t>RF </a:t>
                      </a:r>
                      <a:r>
                        <a:rPr lang="ko-KR" altLang="en-US" sz="2000" b="0" dirty="0"/>
                        <a:t>순위 </a:t>
                      </a:r>
                      <a:r>
                        <a:rPr lang="en-US" altLang="ko-KR" sz="2000" b="0" dirty="0"/>
                        <a:t>(8/11) </a:t>
                      </a:r>
                      <a:r>
                        <a:rPr lang="ko-KR" altLang="en-US" sz="2000" b="0" dirty="0"/>
                        <a:t>무가중과 거의 동일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529074"/>
                  </a:ext>
                </a:extLst>
              </a:tr>
              <a:tr h="93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1" dirty="0"/>
                        <a:t>③ MMSE</a:t>
                      </a:r>
                      <a:r>
                        <a:rPr lang="ko-KR" altLang="ko-KR" sz="2000" b="1" dirty="0"/>
                        <a:t> </a:t>
                      </a:r>
                      <a:r>
                        <a:rPr lang="ko-KR" altLang="ko-KR" sz="2000" b="1" dirty="0" err="1"/>
                        <a:t>절단점</a:t>
                      </a:r>
                      <a:r>
                        <a:rPr lang="ko-KR" altLang="ko-KR" sz="2000" b="1" dirty="0"/>
                        <a:t> 민감도 분석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0" dirty="0"/>
                        <a:t>20~25</a:t>
                      </a:r>
                      <a:r>
                        <a:rPr lang="ko-KR" altLang="en-US" sz="2000" b="0" dirty="0"/>
                        <a:t>점 전 구간 </a:t>
                      </a:r>
                      <a:r>
                        <a:rPr lang="en-US" altLang="ko-KR" sz="2000" b="0" dirty="0"/>
                        <a:t>(6</a:t>
                      </a:r>
                      <a:r>
                        <a:rPr lang="ko-KR" altLang="en-US" sz="2000" b="0" dirty="0"/>
                        <a:t>개 </a:t>
                      </a:r>
                      <a:r>
                        <a:rPr lang="ko-KR" altLang="en-US" sz="2000" b="0" dirty="0" err="1"/>
                        <a:t>절단점</a:t>
                      </a:r>
                      <a:r>
                        <a:rPr lang="en-US" altLang="ko-KR" sz="2000" b="0" dirty="0"/>
                        <a:t>)</a:t>
                      </a:r>
                      <a:r>
                        <a:rPr lang="ko-KR" altLang="en-US" sz="2000" b="0" dirty="0"/>
                        <a:t>에서 순위 </a:t>
                      </a:r>
                      <a:r>
                        <a:rPr lang="en-US" altLang="ko-KR" sz="2000" b="0" dirty="0"/>
                        <a:t>8</a:t>
                      </a:r>
                      <a:r>
                        <a:rPr lang="ko-KR" altLang="en-US" sz="2000" b="0" dirty="0"/>
                        <a:t>위로 완전히 일관 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519057"/>
                  </a:ext>
                </a:extLst>
              </a:tr>
              <a:tr h="939816">
                <a:tc>
                  <a:txBody>
                    <a:bodyPr/>
                    <a:lstStyle/>
                    <a:p>
                      <a:pPr algn="ctr" fontAlgn="t" latinLnBrk="1">
                        <a:lnSpc>
                          <a:spcPct val="250000"/>
                        </a:lnSpc>
                      </a:pPr>
                      <a:r>
                        <a:rPr lang="en-US" altLang="ko-KR" sz="2000" b="1" dirty="0"/>
                        <a:t>④ </a:t>
                      </a:r>
                      <a:r>
                        <a:rPr lang="ko-KR" altLang="ko-KR" sz="2000" b="1" dirty="0" err="1"/>
                        <a:t>다중공선성</a:t>
                      </a:r>
                      <a:r>
                        <a:rPr lang="ko-KR" altLang="ko-KR" sz="2000" b="1" dirty="0"/>
                        <a:t> </a:t>
                      </a:r>
                      <a:r>
                        <a:rPr lang="en-US" altLang="ko-KR" sz="2000" b="1" dirty="0"/>
                        <a:t>(VIF) </a:t>
                      </a:r>
                      <a:r>
                        <a:rPr lang="ko-KR" altLang="ko-KR" sz="2000" b="1" dirty="0"/>
                        <a:t>진단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0" dirty="0"/>
                        <a:t>전체 변수 </a:t>
                      </a:r>
                      <a:r>
                        <a:rPr lang="en-US" altLang="ko-KR" sz="2000" b="0" dirty="0"/>
                        <a:t>VIF &lt; 1.9 (</a:t>
                      </a:r>
                      <a:r>
                        <a:rPr lang="ko-KR" altLang="en-US" sz="2000" b="0" dirty="0"/>
                        <a:t>최댓값 연령 </a:t>
                      </a:r>
                      <a:r>
                        <a:rPr lang="en-US" altLang="ko-KR" sz="2000" b="0" dirty="0"/>
                        <a:t>1.813</a:t>
                      </a:r>
                      <a:endParaRPr lang="ko-KR" altLang="en-US" sz="20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문제없음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960191"/>
                  </a:ext>
                </a:extLst>
              </a:tr>
              <a:tr h="939816"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en-US" altLang="ko-KR" sz="2000" b="1" dirty="0"/>
                        <a:t>⑤ </a:t>
                      </a:r>
                      <a:r>
                        <a:rPr lang="ko-KR" altLang="ko-KR" sz="2000" b="1" dirty="0"/>
                        <a:t>변수 조작화 방식 변경 </a:t>
                      </a:r>
                      <a:endParaRPr lang="ko-KR" altLang="en-US" sz="20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0" dirty="0"/>
                        <a:t>순위 유사 유지</a:t>
                      </a:r>
                      <a:r>
                        <a:rPr lang="en-US" altLang="ko-KR" sz="2000" b="0" dirty="0"/>
                        <a:t>, </a:t>
                      </a:r>
                      <a:r>
                        <a:rPr lang="ko-KR" altLang="en-US" sz="2000" b="0" dirty="0"/>
                        <a:t>값만 소폭 감소</a:t>
                      </a:r>
                      <a:r>
                        <a:rPr lang="en-US" altLang="ko-KR" sz="2000" b="0" dirty="0"/>
                        <a:t> (SHAP 0.119 -&gt; 0.105)</a:t>
                      </a:r>
                      <a:r>
                        <a:rPr lang="ko-KR" altLang="en-US" sz="2000" b="0" dirty="0"/>
                        <a:t>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50000"/>
                        </a:lnSpc>
                      </a:pPr>
                      <a:r>
                        <a:rPr lang="ko-KR" altLang="en-US" sz="2000" b="1" dirty="0"/>
                        <a:t>유지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95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96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AB61-7ECD-7987-325E-7A89FBB2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5EEFDF57-05D1-8FF2-5D52-A3B5FF95F1D6}"/>
              </a:ext>
            </a:extLst>
          </p:cNvPr>
          <p:cNvSpPr/>
          <p:nvPr/>
        </p:nvSpPr>
        <p:spPr>
          <a:xfrm flipV="1">
            <a:off x="1287606" y="24003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E9DB402-AE39-AB65-9DC5-C5E69F645CC2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96AB70C-60BF-6FC0-6512-0D687F77CE7E}"/>
              </a:ext>
            </a:extLst>
          </p:cNvPr>
          <p:cNvSpPr/>
          <p:nvPr/>
        </p:nvSpPr>
        <p:spPr>
          <a:xfrm>
            <a:off x="17159484" y="19769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826FCE-1BC0-C97E-D33B-27560B2070B3}"/>
              </a:ext>
            </a:extLst>
          </p:cNvPr>
          <p:cNvSpPr txBox="1"/>
          <p:nvPr/>
        </p:nvSpPr>
        <p:spPr>
          <a:xfrm>
            <a:off x="9047496" y="5316737"/>
            <a:ext cx="150607" cy="43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085"/>
              </a:lnSpc>
            </a:pPr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60E42A7-2E18-959A-5331-9162D775EE39}"/>
              </a:ext>
            </a:extLst>
          </p:cNvPr>
          <p:cNvSpPr txBox="1"/>
          <p:nvPr/>
        </p:nvSpPr>
        <p:spPr>
          <a:xfrm>
            <a:off x="1287606" y="2872086"/>
            <a:ext cx="565961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유의함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” 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과 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낮은 중요도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 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의 공존</a:t>
            </a:r>
            <a:endParaRPr lang="en-US" sz="28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D52680F-48D9-CFBF-102E-F0A5865CA222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논의 및 시사점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86DA1A2-988A-3C9A-2B38-4141A062D01B}"/>
              </a:ext>
            </a:extLst>
          </p:cNvPr>
          <p:cNvSpPr txBox="1"/>
          <p:nvPr/>
        </p:nvSpPr>
        <p:spPr>
          <a:xfrm>
            <a:off x="9906000" y="2888530"/>
            <a:ext cx="5791200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97"/>
              </a:lnSpc>
            </a:pP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헬스케어 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IT 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시사점 </a:t>
            </a:r>
            <a:r>
              <a:rPr lang="en-US" altLang="ko-KR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: 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예측</a:t>
            </a:r>
            <a:r>
              <a:rPr lang="en-US" altLang="ko-KR" sz="28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개입 이원화</a:t>
            </a:r>
            <a:endParaRPr lang="en-US" sz="28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9C4CA900-CD25-5BC9-34F6-993ACCAC7F79}"/>
              </a:ext>
            </a:extLst>
          </p:cNvPr>
          <p:cNvSpPr txBox="1"/>
          <p:nvPr/>
        </p:nvSpPr>
        <p:spPr>
          <a:xfrm>
            <a:off x="1287606" y="3907604"/>
            <a:ext cx="6991125" cy="2934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로지스틱 회귀의 통계적 유의성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>
              <a:lnSpc>
                <a:spcPts val="3297"/>
              </a:lnSpc>
            </a:pP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인지기능저하 간 관련성이 우연이 아님을 의미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>
              <a:lnSpc>
                <a:spcPts val="3297"/>
              </a:lnSpc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변수 중요도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(SHAP</a:t>
            </a:r>
            <a:r>
              <a:rPr lang="en-US" altLang="ko-KR" sz="24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RF)</a:t>
            </a:r>
          </a:p>
          <a:p>
            <a:pPr algn="l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여러 예측변수를 동시에 고려했을 때의 상대적 기여 비중을 의미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3297"/>
              </a:lnSpc>
            </a:pP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3297"/>
              </a:lnSpc>
            </a:pPr>
            <a:r>
              <a:rPr 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-&gt;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서로 다른 질문에 대한 답이므로 모순되는 결과가 아님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CAFF0761-22F1-5468-FA9D-D0E0A8391512}"/>
              </a:ext>
            </a:extLst>
          </p:cNvPr>
          <p:cNvSpPr txBox="1"/>
          <p:nvPr/>
        </p:nvSpPr>
        <p:spPr>
          <a:xfrm>
            <a:off x="9373687" y="3849788"/>
            <a:ext cx="7431284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예측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(Screening)</a:t>
            </a:r>
          </a:p>
          <a:p>
            <a:pPr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연령</a:t>
            </a:r>
            <a:r>
              <a:rPr lang="en-US" altLang="ko-KR" sz="20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학력</a:t>
            </a:r>
            <a:r>
              <a:rPr lang="en-US" altLang="ko-KR" sz="2000" spc="-31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우울 등 설명력 높은 거시적 건강 지표를 중심 피처로 구성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CD8D9908-21B8-CDF8-4C6C-60DB52849BC0}"/>
              </a:ext>
            </a:extLst>
          </p:cNvPr>
          <p:cNvSpPr txBox="1"/>
          <p:nvPr/>
        </p:nvSpPr>
        <p:spPr>
          <a:xfrm>
            <a:off x="9373687" y="6828783"/>
            <a:ext cx="7583684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개입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(Intervention)</a:t>
            </a:r>
          </a:p>
          <a:p>
            <a:pPr algn="l">
              <a:lnSpc>
                <a:spcPts val="3297"/>
              </a:lnSpc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통계적으로 유의한 보호효과가 입증된 </a:t>
            </a: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기반 프로그램 처방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9E99E303-03A9-704A-AD59-C9BB470CABED}"/>
              </a:ext>
            </a:extLst>
          </p:cNvPr>
          <p:cNvSpPr/>
          <p:nvPr/>
        </p:nvSpPr>
        <p:spPr>
          <a:xfrm rot="5400000">
            <a:off x="12133531" y="5394057"/>
            <a:ext cx="612237" cy="723900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05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1C6A-A1B1-9F73-2385-468117F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13103B70-3728-BB4A-1A4F-1AC96D1DB756}"/>
              </a:ext>
            </a:extLst>
          </p:cNvPr>
          <p:cNvSpPr/>
          <p:nvPr/>
        </p:nvSpPr>
        <p:spPr>
          <a:xfrm flipV="1">
            <a:off x="1287606" y="2400300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77FE83C-4156-0C61-3C42-6CA98D92D262}"/>
              </a:ext>
            </a:extLst>
          </p:cNvPr>
          <p:cNvSpPr/>
          <p:nvPr/>
        </p:nvSpPr>
        <p:spPr>
          <a:xfrm flipV="1">
            <a:off x="1233504" y="9577964"/>
            <a:ext cx="15820993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05B9E8C-FA5F-3A42-B6C2-44A94AD2D361}"/>
              </a:ext>
            </a:extLst>
          </p:cNvPr>
          <p:cNvSpPr/>
          <p:nvPr/>
        </p:nvSpPr>
        <p:spPr>
          <a:xfrm>
            <a:off x="17159484" y="1976956"/>
            <a:ext cx="644984" cy="423344"/>
          </a:xfrm>
          <a:custGeom>
            <a:avLst/>
            <a:gdLst/>
            <a:ahLst/>
            <a:cxnLst/>
            <a:rect l="l" t="t" r="r" b="b"/>
            <a:pathLst>
              <a:path w="644984" h="42334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0BBF40-28F9-83C2-D322-EBDDE9680CD3}"/>
              </a:ext>
            </a:extLst>
          </p:cNvPr>
          <p:cNvSpPr txBox="1"/>
          <p:nvPr/>
        </p:nvSpPr>
        <p:spPr>
          <a:xfrm>
            <a:off x="9047496" y="5316737"/>
            <a:ext cx="150607" cy="43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085"/>
              </a:lnSpc>
            </a:pPr>
            <a:endParaRPr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6430772-590C-7383-0844-FA08E2910CC6}"/>
              </a:ext>
            </a:extLst>
          </p:cNvPr>
          <p:cNvSpPr txBox="1"/>
          <p:nvPr/>
        </p:nvSpPr>
        <p:spPr>
          <a:xfrm>
            <a:off x="1287606" y="2872086"/>
            <a:ext cx="12580794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800" b="1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문화여가활동은</a:t>
            </a:r>
            <a:r>
              <a:rPr lang="ko-KR" altLang="en-US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통계적으로 유의한 보호요인이나</a:t>
            </a:r>
            <a:r>
              <a:rPr lang="en-US" altLang="ko-KR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ko-KR" altLang="en-US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상대적 예측 기여도는 낮다</a:t>
            </a:r>
            <a:r>
              <a:rPr lang="en-US" altLang="ko-KR" sz="2800" b="1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.</a:t>
            </a:r>
            <a:endParaRPr lang="en-US" sz="2800" b="1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327A9D3-6ADE-9169-8A82-E623A98BC579}"/>
              </a:ext>
            </a:extLst>
          </p:cNvPr>
          <p:cNvSpPr txBox="1"/>
          <p:nvPr/>
        </p:nvSpPr>
        <p:spPr>
          <a:xfrm>
            <a:off x="1233504" y="1148072"/>
            <a:ext cx="5847968" cy="85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7"/>
              </a:lnSpc>
            </a:pPr>
            <a:r>
              <a:rPr lang="ko-KR" altLang="en-US" sz="6399" spc="-447" dirty="0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결론 및 향후 연구</a:t>
            </a:r>
            <a:endParaRPr lang="en-US" sz="6399" spc="-447" dirty="0">
              <a:solidFill>
                <a:srgbClr val="000000"/>
              </a:solidFill>
              <a:latin typeface="Nanum Square Light"/>
              <a:ea typeface="Nanum Square Light"/>
              <a:cs typeface="Nanum Square Light"/>
              <a:sym typeface="Nanum Square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AB6DE17-148C-74E3-2B1E-8B313214340F}"/>
              </a:ext>
            </a:extLst>
          </p:cNvPr>
          <p:cNvSpPr txBox="1"/>
          <p:nvPr/>
        </p:nvSpPr>
        <p:spPr>
          <a:xfrm>
            <a:off x="8839200" y="3981398"/>
            <a:ext cx="5230821" cy="406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5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후속 연구 방향</a:t>
            </a:r>
            <a:endParaRPr lang="en-US" sz="25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AA10664-F8AA-7D97-70F6-FDB0E72FF2CC}"/>
              </a:ext>
            </a:extLst>
          </p:cNvPr>
          <p:cNvGrpSpPr/>
          <p:nvPr/>
        </p:nvGrpSpPr>
        <p:grpSpPr>
          <a:xfrm>
            <a:off x="8839200" y="4879395"/>
            <a:ext cx="8167035" cy="720561"/>
            <a:chOff x="609600" y="4341025"/>
            <a:chExt cx="7974515" cy="873639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35FAD709-E4AE-A768-34E4-7F8DE08E0E8D}"/>
                </a:ext>
              </a:extLst>
            </p:cNvPr>
            <p:cNvSpPr/>
            <p:nvPr/>
          </p:nvSpPr>
          <p:spPr>
            <a:xfrm>
              <a:off x="609600" y="4341025"/>
              <a:ext cx="7974515" cy="873633"/>
            </a:xfrm>
            <a:custGeom>
              <a:avLst/>
              <a:gdLst/>
              <a:ahLst/>
              <a:cxnLst/>
              <a:rect l="l" t="t" r="r" b="b"/>
              <a:pathLst>
                <a:path w="2923599" h="134916">
                  <a:moveTo>
                    <a:pt x="0" y="0"/>
                  </a:moveTo>
                  <a:lnTo>
                    <a:pt x="2923599" y="0"/>
                  </a:lnTo>
                  <a:lnTo>
                    <a:pt x="2923599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29127FE-6341-EB56-0FB3-7CBEC68196AF}"/>
                </a:ext>
              </a:extLst>
            </p:cNvPr>
            <p:cNvSpPr/>
            <p:nvPr/>
          </p:nvSpPr>
          <p:spPr>
            <a:xfrm>
              <a:off x="609600" y="4341026"/>
              <a:ext cx="786825" cy="873638"/>
            </a:xfrm>
            <a:custGeom>
              <a:avLst/>
              <a:gdLst/>
              <a:ahLst/>
              <a:cxnLst/>
              <a:rect l="l" t="t" r="r" b="b"/>
              <a:pathLst>
                <a:path w="134916" h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42">
              <a:extLst>
                <a:ext uri="{FF2B5EF4-FFF2-40B4-BE49-F238E27FC236}">
                  <a16:creationId xmlns:a16="http://schemas.microsoft.com/office/drawing/2014/main" id="{7ED7377A-B746-2210-67B5-071CC2C88E2D}"/>
                </a:ext>
              </a:extLst>
            </p:cNvPr>
            <p:cNvSpPr txBox="1"/>
            <p:nvPr/>
          </p:nvSpPr>
          <p:spPr>
            <a:xfrm>
              <a:off x="1626284" y="4560929"/>
              <a:ext cx="6374716" cy="376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40"/>
                </a:lnSpc>
              </a:pPr>
              <a:r>
                <a:rPr lang="ko-KR" altLang="en-US" sz="2200" spc="-4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문화여가활동</a:t>
              </a:r>
              <a:r>
                <a:rPr lang="ko-KR" altLang="en-US" sz="2200" spc="-4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유형별 세분화 자료 확보</a:t>
              </a:r>
              <a:endParaRPr lang="en-US" sz="2200" spc="-40" dirty="0">
                <a:solidFill>
                  <a:schemeClr val="bg1">
                    <a:lumMod val="6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6" name="TextBox 43">
              <a:extLst>
                <a:ext uri="{FF2B5EF4-FFF2-40B4-BE49-F238E27FC236}">
                  <a16:creationId xmlns:a16="http://schemas.microsoft.com/office/drawing/2014/main" id="{6C6F0B00-74D2-1315-1DBC-CBFA9D8AF737}"/>
                </a:ext>
              </a:extLst>
            </p:cNvPr>
            <p:cNvSpPr txBox="1"/>
            <p:nvPr/>
          </p:nvSpPr>
          <p:spPr>
            <a:xfrm>
              <a:off x="625410" y="4540618"/>
              <a:ext cx="765465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2CB72C3-0775-577E-C828-F3D194302D91}"/>
              </a:ext>
            </a:extLst>
          </p:cNvPr>
          <p:cNvGrpSpPr/>
          <p:nvPr/>
        </p:nvGrpSpPr>
        <p:grpSpPr>
          <a:xfrm>
            <a:off x="8839200" y="5834556"/>
            <a:ext cx="8561676" cy="720555"/>
            <a:chOff x="612718" y="5628192"/>
            <a:chExt cx="8359853" cy="873632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419C4A4C-096A-5BFE-F9FA-0BB948867D8D}"/>
                </a:ext>
              </a:extLst>
            </p:cNvPr>
            <p:cNvSpPr/>
            <p:nvPr/>
          </p:nvSpPr>
          <p:spPr>
            <a:xfrm>
              <a:off x="613623" y="5628192"/>
              <a:ext cx="8208342" cy="873632"/>
            </a:xfrm>
            <a:custGeom>
              <a:avLst/>
              <a:gdLst/>
              <a:ahLst/>
              <a:cxnLst/>
              <a:rect l="l" t="t" r="r" b="b"/>
              <a:pathLst>
                <a:path w="2923599" h="134916">
                  <a:moveTo>
                    <a:pt x="0" y="0"/>
                  </a:moveTo>
                  <a:lnTo>
                    <a:pt x="2923599" y="0"/>
                  </a:lnTo>
                  <a:lnTo>
                    <a:pt x="2923599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1"/>
              </a:solidFill>
              <a:prstDash val="solid"/>
              <a:miter/>
            </a:ln>
          </p:spPr>
        </p: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D38086A9-1807-E92D-58FF-FD42E0F4D15E}"/>
                </a:ext>
              </a:extLst>
            </p:cNvPr>
            <p:cNvGrpSpPr/>
            <p:nvPr/>
          </p:nvGrpSpPr>
          <p:grpSpPr>
            <a:xfrm>
              <a:off x="613622" y="5628192"/>
              <a:ext cx="808186" cy="873632"/>
              <a:chOff x="0" y="0"/>
              <a:chExt cx="134916" cy="134916"/>
            </a:xfrm>
          </p:grpSpPr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FEC2E707-8F04-7F2E-AB26-52C5E4FB1A69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56665ADD-748D-F86E-7634-6EFB34E611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25" name="TextBox 44">
              <a:extLst>
                <a:ext uri="{FF2B5EF4-FFF2-40B4-BE49-F238E27FC236}">
                  <a16:creationId xmlns:a16="http://schemas.microsoft.com/office/drawing/2014/main" id="{9154FBC8-4FB8-183A-EDF8-3545A3948516}"/>
                </a:ext>
              </a:extLst>
            </p:cNvPr>
            <p:cNvSpPr txBox="1"/>
            <p:nvPr/>
          </p:nvSpPr>
          <p:spPr>
            <a:xfrm>
              <a:off x="1630885" y="5859997"/>
              <a:ext cx="7341686" cy="376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altLang="ko-KR" sz="2200" spc="-40" dirty="0">
                  <a:latin typeface="Nanum Square"/>
                  <a:ea typeface="Nanum Square"/>
                  <a:cs typeface="Nanum Square"/>
                  <a:sym typeface="Nanum Square"/>
                </a:rPr>
                <a:t>3</a:t>
              </a:r>
              <a:r>
                <a:rPr lang="ko-KR" altLang="en-US" sz="2200" spc="-40" dirty="0">
                  <a:latin typeface="Nanum Square"/>
                  <a:ea typeface="Nanum Square"/>
                  <a:cs typeface="Nanum Square"/>
                  <a:sym typeface="Nanum Square"/>
                </a:rPr>
                <a:t>개 이상 시점 기반 교차지연패널모형 </a:t>
              </a:r>
              <a:r>
                <a:rPr lang="en-US" altLang="ko-KR" sz="2200" spc="-40" dirty="0">
                  <a:latin typeface="Nanum Square"/>
                  <a:ea typeface="Nanum Square"/>
                  <a:cs typeface="Nanum Square"/>
                  <a:sym typeface="Nanum Square"/>
                </a:rPr>
                <a:t>(cross – lagged panel) </a:t>
              </a:r>
              <a:r>
                <a:rPr lang="ko-KR" altLang="en-US" sz="2200" spc="-40" dirty="0">
                  <a:latin typeface="Nanum Square"/>
                  <a:ea typeface="Nanum Square"/>
                  <a:cs typeface="Nanum Square"/>
                  <a:sym typeface="Nanum Square"/>
                </a:rPr>
                <a:t>적용</a:t>
              </a:r>
              <a:endParaRPr lang="en-US" sz="2200" spc="-40" dirty="0">
                <a:solidFill>
                  <a:schemeClr val="bg1">
                    <a:lumMod val="6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26" name="TextBox 45">
              <a:extLst>
                <a:ext uri="{FF2B5EF4-FFF2-40B4-BE49-F238E27FC236}">
                  <a16:creationId xmlns:a16="http://schemas.microsoft.com/office/drawing/2014/main" id="{CCAB8E69-EB54-633D-AF0E-6456B3B92455}"/>
                </a:ext>
              </a:extLst>
            </p:cNvPr>
            <p:cNvSpPr txBox="1"/>
            <p:nvPr/>
          </p:nvSpPr>
          <p:spPr>
            <a:xfrm>
              <a:off x="612718" y="5860577"/>
              <a:ext cx="786825" cy="386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2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FF9AC13-62C3-2EA4-6D5E-3D16B3FF72CA}"/>
              </a:ext>
            </a:extLst>
          </p:cNvPr>
          <p:cNvGrpSpPr/>
          <p:nvPr/>
        </p:nvGrpSpPr>
        <p:grpSpPr>
          <a:xfrm>
            <a:off x="8839200" y="6789716"/>
            <a:ext cx="8638410" cy="716395"/>
            <a:chOff x="612718" y="6894011"/>
            <a:chExt cx="8434778" cy="868588"/>
          </a:xfrm>
        </p:grpSpPr>
        <p:grpSp>
          <p:nvGrpSpPr>
            <p:cNvPr id="34" name="Group 14">
              <a:extLst>
                <a:ext uri="{FF2B5EF4-FFF2-40B4-BE49-F238E27FC236}">
                  <a16:creationId xmlns:a16="http://schemas.microsoft.com/office/drawing/2014/main" id="{D04E9241-A14A-01C6-AFD7-0270FE44390C}"/>
                </a:ext>
              </a:extLst>
            </p:cNvPr>
            <p:cNvGrpSpPr/>
            <p:nvPr/>
          </p:nvGrpSpPr>
          <p:grpSpPr>
            <a:xfrm>
              <a:off x="613622" y="6894011"/>
              <a:ext cx="8358949" cy="868588"/>
              <a:chOff x="0" y="0"/>
              <a:chExt cx="2923599" cy="134916"/>
            </a:xfrm>
          </p:grpSpPr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257F583A-A533-1220-485E-89040D2D3172}"/>
                  </a:ext>
                </a:extLst>
              </p:cNvPr>
              <p:cNvSpPr/>
              <p:nvPr/>
            </p:nvSpPr>
            <p:spPr>
              <a:xfrm>
                <a:off x="0" y="0"/>
                <a:ext cx="2923599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2923599" h="134916">
                    <a:moveTo>
                      <a:pt x="0" y="0"/>
                    </a:moveTo>
                    <a:lnTo>
                      <a:pt x="2923599" y="0"/>
                    </a:lnTo>
                    <a:lnTo>
                      <a:pt x="2923599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1"/>
                </a:solidFill>
                <a:prstDash val="solid"/>
                <a:miter/>
              </a:ln>
            </p:spPr>
          </p:sp>
          <p:sp>
            <p:nvSpPr>
              <p:cNvPr id="41" name="TextBox 16">
                <a:extLst>
                  <a:ext uri="{FF2B5EF4-FFF2-40B4-BE49-F238E27FC236}">
                    <a16:creationId xmlns:a16="http://schemas.microsoft.com/office/drawing/2014/main" id="{383A7B32-C515-F177-5D70-F4E9E579E6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23599" cy="17301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grpSp>
          <p:nvGrpSpPr>
            <p:cNvPr id="35" name="Group 17">
              <a:extLst>
                <a:ext uri="{FF2B5EF4-FFF2-40B4-BE49-F238E27FC236}">
                  <a16:creationId xmlns:a16="http://schemas.microsoft.com/office/drawing/2014/main" id="{214F9F3D-0B2F-7BFD-A61E-C125509184FF}"/>
                </a:ext>
              </a:extLst>
            </p:cNvPr>
            <p:cNvGrpSpPr/>
            <p:nvPr/>
          </p:nvGrpSpPr>
          <p:grpSpPr>
            <a:xfrm>
              <a:off x="613622" y="6894011"/>
              <a:ext cx="828559" cy="868588"/>
              <a:chOff x="0" y="0"/>
              <a:chExt cx="134916" cy="134916"/>
            </a:xfrm>
          </p:grpSpPr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BFBA7878-987C-90E7-DE88-9B0D293A3781}"/>
                  </a:ext>
                </a:extLst>
              </p:cNvPr>
              <p:cNvSpPr/>
              <p:nvPr/>
            </p:nvSpPr>
            <p:spPr>
              <a:xfrm>
                <a:off x="0" y="0"/>
                <a:ext cx="134916" cy="134916"/>
              </a:xfrm>
              <a:custGeom>
                <a:avLst/>
                <a:gdLst/>
                <a:ahLst/>
                <a:cxnLst/>
                <a:rect l="l" t="t" r="r" b="b"/>
                <a:pathLst>
                  <a:path w="134916" h="134916">
                    <a:moveTo>
                      <a:pt x="0" y="0"/>
                    </a:moveTo>
                    <a:lnTo>
                      <a:pt x="134916" y="0"/>
                    </a:lnTo>
                    <a:lnTo>
                      <a:pt x="134916" y="134916"/>
                    </a:lnTo>
                    <a:lnTo>
                      <a:pt x="0" y="1349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solidFill>
                  <a:schemeClr val="bg1"/>
                </a:solidFill>
              </a:ln>
            </p:spPr>
          </p:sp>
          <p:sp>
            <p:nvSpPr>
              <p:cNvPr id="39" name="TextBox 19">
                <a:extLst>
                  <a:ext uri="{FF2B5EF4-FFF2-40B4-BE49-F238E27FC236}">
                    <a16:creationId xmlns:a16="http://schemas.microsoft.com/office/drawing/2014/main" id="{0D862827-6232-5B56-D428-FAD468531D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4916" cy="17301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85"/>
                  </a:lnSpc>
                </a:pPr>
                <a:endParaRPr/>
              </a:p>
            </p:txBody>
          </p:sp>
        </p:grpSp>
        <p:sp>
          <p:nvSpPr>
            <p:cNvPr id="36" name="TextBox 46">
              <a:extLst>
                <a:ext uri="{FF2B5EF4-FFF2-40B4-BE49-F238E27FC236}">
                  <a16:creationId xmlns:a16="http://schemas.microsoft.com/office/drawing/2014/main" id="{9260534A-6AC2-3ADD-08C0-5B9823BCC2B6}"/>
                </a:ext>
              </a:extLst>
            </p:cNvPr>
            <p:cNvSpPr txBox="1"/>
            <p:nvPr/>
          </p:nvSpPr>
          <p:spPr>
            <a:xfrm>
              <a:off x="1650893" y="7106473"/>
              <a:ext cx="7396603" cy="45619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ko-KR" altLang="en-US" sz="2200" spc="-40" dirty="0">
                  <a:latin typeface="Nanum Square"/>
                  <a:ea typeface="Nanum Square"/>
                  <a:cs typeface="Nanum Square"/>
                  <a:sym typeface="Nanum Square"/>
                </a:rPr>
                <a:t>디지털 헬스케어 서비스 프로토타입 실증연구</a:t>
              </a:r>
              <a:endParaRPr lang="en-US" sz="2200" spc="-40" dirty="0"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  <p:sp>
          <p:nvSpPr>
            <p:cNvPr id="37" name="TextBox 47">
              <a:extLst>
                <a:ext uri="{FF2B5EF4-FFF2-40B4-BE49-F238E27FC236}">
                  <a16:creationId xmlns:a16="http://schemas.microsoft.com/office/drawing/2014/main" id="{566EDC34-D882-40F6-4BAD-E063649BA4E4}"/>
                </a:ext>
              </a:extLst>
            </p:cNvPr>
            <p:cNvSpPr txBox="1"/>
            <p:nvPr/>
          </p:nvSpPr>
          <p:spPr>
            <a:xfrm>
              <a:off x="612718" y="7107006"/>
              <a:ext cx="807240" cy="386965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40"/>
                </a:lnSpc>
              </a:pPr>
              <a:r>
                <a:rPr lang="en-US" sz="2500" spc="-40" dirty="0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3</a:t>
              </a:r>
            </a:p>
          </p:txBody>
        </p:sp>
      </p:grpSp>
      <p:sp>
        <p:nvSpPr>
          <p:cNvPr id="3" name="TextBox 27">
            <a:extLst>
              <a:ext uri="{FF2B5EF4-FFF2-40B4-BE49-F238E27FC236}">
                <a16:creationId xmlns:a16="http://schemas.microsoft.com/office/drawing/2014/main" id="{AB2CECC1-A94A-0723-92C0-759B43C033D0}"/>
              </a:ext>
            </a:extLst>
          </p:cNvPr>
          <p:cNvSpPr txBox="1"/>
          <p:nvPr/>
        </p:nvSpPr>
        <p:spPr>
          <a:xfrm>
            <a:off x="1448852" y="3959834"/>
            <a:ext cx="523082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ko-KR" altLang="en-US" sz="28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결론 요약 </a:t>
            </a:r>
            <a:endParaRPr lang="en-US" sz="28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1965C002-E237-BCD2-81FB-3C7F938CC2E3}"/>
              </a:ext>
            </a:extLst>
          </p:cNvPr>
          <p:cNvSpPr txBox="1"/>
          <p:nvPr/>
        </p:nvSpPr>
        <p:spPr>
          <a:xfrm>
            <a:off x="1180998" y="4723450"/>
            <a:ext cx="7048602" cy="2934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RF</a:t>
            </a:r>
            <a:r>
              <a:rPr lang="en-US" altLang="ko-KR" sz="2400" spc="-31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XGBoost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모두 로지스틱 회귀 대비 유의하게 우수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(AUC 0.855/0.854)</a:t>
            </a: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: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유의한 보호요인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(OR = 0.763) 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이나 상대적 중요도는 </a:t>
            </a:r>
            <a:r>
              <a:rPr lang="en-US" altLang="ko-KR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8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위</a:t>
            </a: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endParaRPr lang="en-US" altLang="ko-KR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342900" indent="-342900" algn="l">
              <a:lnSpc>
                <a:spcPts val="3297"/>
              </a:lnSpc>
              <a:buFont typeface="Arial" panose="020B0604020202020204" pitchFamily="34" charset="0"/>
              <a:buChar char="•"/>
            </a:pP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절단점을 낮출수록 </a:t>
            </a:r>
            <a:r>
              <a:rPr lang="ko-KR" altLang="en-US" sz="2200" spc="-42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문화여가활동의</a:t>
            </a:r>
            <a:r>
              <a:rPr lang="ko-KR" altLang="en-US" sz="2200" spc="-4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관련성이 강해지는 경향</a:t>
            </a:r>
            <a:endParaRPr lang="en-US" sz="2200" spc="-42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043D5CE-4B47-BD57-FF14-88D65C8F2F80}"/>
              </a:ext>
            </a:extLst>
          </p:cNvPr>
          <p:cNvSpPr txBox="1"/>
          <p:nvPr/>
        </p:nvSpPr>
        <p:spPr>
          <a:xfrm>
            <a:off x="1287606" y="8595757"/>
            <a:ext cx="12580794" cy="402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97"/>
              </a:lnSpc>
            </a:pPr>
            <a:r>
              <a:rPr lang="ko-KR" altLang="en-US" sz="2200" b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한계 </a:t>
            </a:r>
            <a:r>
              <a:rPr lang="en-US" altLang="ko-KR" sz="2200" b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: </a:t>
            </a:r>
            <a:r>
              <a:rPr lang="ko-KR" altLang="en-US" sz="2200" b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세부유형 </a:t>
            </a:r>
            <a:r>
              <a:rPr lang="ko-KR" altLang="en-US" sz="2200" b="1" spc="-42" dirty="0" err="1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미구분</a:t>
            </a:r>
            <a:r>
              <a:rPr lang="en-US" altLang="ko-KR" sz="2400" spc="-31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b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시차설계의 인과추론 한계</a:t>
            </a:r>
            <a:r>
              <a:rPr lang="en-US" altLang="ko-KR" sz="2400" spc="-31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·</a:t>
            </a:r>
            <a:r>
              <a:rPr lang="ko-KR" altLang="en-US" sz="2200" b="1" spc="-42" dirty="0">
                <a:solidFill>
                  <a:schemeClr val="bg1">
                    <a:lumMod val="75000"/>
                  </a:schemeClr>
                </a:solidFill>
                <a:latin typeface="Nanum Square"/>
                <a:ea typeface="Nanum Square"/>
                <a:cs typeface="Nanum Square"/>
                <a:sym typeface="Nanum Square"/>
              </a:rPr>
              <a:t>연구자 자체 채점</a:t>
            </a:r>
            <a:endParaRPr lang="en-US" sz="2200" b="1" spc="-42" dirty="0">
              <a:solidFill>
                <a:schemeClr val="bg1">
                  <a:lumMod val="75000"/>
                </a:schemeClr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142480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3296</TotalTime>
  <Words>952</Words>
  <Application>Microsoft Office PowerPoint</Application>
  <PresentationFormat>사용자 지정</PresentationFormat>
  <Paragraphs>173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</vt:lpstr>
      <vt:lpstr>Wingdings</vt:lpstr>
      <vt:lpstr>Heebo Bold</vt:lpstr>
      <vt:lpstr>Nanum Square</vt:lpstr>
      <vt:lpstr>Calibri</vt:lpstr>
      <vt:lpstr>Heebo</vt:lpstr>
      <vt:lpstr>Nanum Square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자영 김</cp:lastModifiedBy>
  <cp:revision>32</cp:revision>
  <dcterms:created xsi:type="dcterms:W3CDTF">2006-08-16T00:00:00Z</dcterms:created>
  <dcterms:modified xsi:type="dcterms:W3CDTF">2026-09-18T14:58:36Z</dcterms:modified>
  <dc:identifier>DAHUzYpQ2tA</dc:identifier>
</cp:coreProperties>
</file>